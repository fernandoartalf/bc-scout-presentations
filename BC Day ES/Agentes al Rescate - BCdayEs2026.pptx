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9" r:id="rId3"/>
    <p:sldId id="257" r:id="rId4"/>
    <p:sldId id="263" r:id="rId5"/>
    <p:sldId id="260" r:id="rId6"/>
    <p:sldId id="258" r:id="rId7"/>
    <p:sldId id="276" r:id="rId8"/>
    <p:sldId id="277" r:id="rId9"/>
    <p:sldId id="278" r:id="rId10"/>
    <p:sldId id="279" r:id="rId11"/>
    <p:sldId id="280" r:id="rId12"/>
    <p:sldId id="281" r:id="rId13"/>
    <p:sldId id="275" r:id="rId14"/>
    <p:sldId id="282" r:id="rId15"/>
    <p:sldId id="270" r:id="rId16"/>
    <p:sldId id="283" r:id="rId17"/>
  </p:sldIdLst>
  <p:sldSz cx="18288000" cy="10287000"/>
  <p:notesSz cx="6858000" cy="9144000"/>
  <p:embeddedFontLst>
    <p:embeddedFont>
      <p:font typeface="GoodTime Grotesk" panose="020B0604020202020204" charset="0"/>
      <p:regular r:id="rId19"/>
    </p:embeddedFont>
    <p:embeddedFont>
      <p:font typeface="open sans" panose="020B0606030504020204" pitchFamily="3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 autoAdjust="0"/>
    <p:restoredTop sz="94622" autoAdjust="0"/>
  </p:normalViewPr>
  <p:slideViewPr>
    <p:cSldViewPr>
      <p:cViewPr varScale="1">
        <p:scale>
          <a:sx n="44" d="100"/>
          <a:sy n="44" d="100"/>
        </p:scale>
        <p:origin x="609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CC2FA-3267-4A82-A6A4-770230340957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6E83F1-A282-46EB-A9C8-1A936AA55B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8763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E83F1-A282-46EB-A9C8-1A936AA55B9D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475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B5C80-6312-0D90-A123-CB118B2EC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6604D3-BC66-599E-0F42-3ABB1E97BF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F07092-49F0-A991-1DB8-913EB7956B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45545D-F0DC-34D3-7B13-0C8B8B4EBA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E83F1-A282-46EB-A9C8-1A936AA55B9D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13508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6138F-6069-E353-50F2-F1FF3EAD7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F8797B-F1C6-FB43-DB8C-1CEACA7E23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EC17B7-68F6-8A40-EC92-429E635C31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B14D27-E9D1-5161-8606-138499793A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E83F1-A282-46EB-A9C8-1A936AA55B9D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5376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608F0-3032-7528-7D74-078F377B3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E76ED6-5CF6-4E01-6CFC-31E0CF5CDF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2FE45E-CFB8-B81F-EA75-22A6381952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712D6-4A04-A5FC-B4EB-A173E74424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E83F1-A282-46EB-A9C8-1A936AA55B9D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21007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E6A9D-BAFA-2079-EDF1-FDEFC9D15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AB8D90-B389-9A38-7B0F-0C17DCC676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FABFDF-1883-EFCB-FBAD-FAE9827A0B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61C9-7E66-47B3-DA4F-635AD6D0CA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E83F1-A282-46EB-A9C8-1A936AA55B9D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4382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svg"/><Relationship Id="rId10" Type="http://schemas.openxmlformats.org/officeDocument/2006/relationships/image" Target="../media/image13.png"/><Relationship Id="rId19" Type="http://schemas.openxmlformats.org/officeDocument/2006/relationships/image" Target="../media/image2.sv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.svg"/><Relationship Id="rId7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jpg"/><Relationship Id="rId4" Type="http://schemas.openxmlformats.org/officeDocument/2006/relationships/image" Target="../media/image3.png"/><Relationship Id="rId9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eg"/><Relationship Id="rId3" Type="http://schemas.openxmlformats.org/officeDocument/2006/relationships/image" Target="../media/image2.svg"/><Relationship Id="rId7" Type="http://schemas.openxmlformats.org/officeDocument/2006/relationships/image" Target="../media/image3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jpe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eg"/><Relationship Id="rId13" Type="http://schemas.openxmlformats.org/officeDocument/2006/relationships/image" Target="../media/image40.jpeg"/><Relationship Id="rId3" Type="http://schemas.openxmlformats.org/officeDocument/2006/relationships/image" Target="../media/image1.jpeg"/><Relationship Id="rId7" Type="http://schemas.openxmlformats.org/officeDocument/2006/relationships/image" Target="../media/image34.jpeg"/><Relationship Id="rId12" Type="http://schemas.openxmlformats.org/officeDocument/2006/relationships/image" Target="../media/image3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.png"/><Relationship Id="rId10" Type="http://schemas.openxmlformats.org/officeDocument/2006/relationships/image" Target="../media/image37.jpg"/><Relationship Id="rId4" Type="http://schemas.openxmlformats.org/officeDocument/2006/relationships/image" Target="../media/image2.svg"/><Relationship Id="rId9" Type="http://schemas.openxmlformats.org/officeDocument/2006/relationships/image" Target="../media/image36.jpeg"/><Relationship Id="rId14" Type="http://schemas.openxmlformats.org/officeDocument/2006/relationships/image" Target="../media/image41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g"/><Relationship Id="rId3" Type="http://schemas.openxmlformats.org/officeDocument/2006/relationships/image" Target="../media/image1.jpeg"/><Relationship Id="rId7" Type="http://schemas.openxmlformats.org/officeDocument/2006/relationships/image" Target="../media/image4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jpe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3" Type="http://schemas.openxmlformats.org/officeDocument/2006/relationships/image" Target="../media/image1.jpeg"/><Relationship Id="rId7" Type="http://schemas.openxmlformats.org/officeDocument/2006/relationships/image" Target="../media/image46.jpeg"/><Relationship Id="rId12" Type="http://schemas.openxmlformats.org/officeDocument/2006/relationships/image" Target="../media/image5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3.png"/><Relationship Id="rId10" Type="http://schemas.openxmlformats.org/officeDocument/2006/relationships/image" Target="../media/image49.png"/><Relationship Id="rId4" Type="http://schemas.openxmlformats.org/officeDocument/2006/relationships/image" Target="../media/image2.svg"/><Relationship Id="rId9" Type="http://schemas.openxmlformats.org/officeDocument/2006/relationships/image" Target="../media/image4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3" Type="http://schemas.openxmlformats.org/officeDocument/2006/relationships/image" Target="../media/image1.jpe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3.png"/><Relationship Id="rId10" Type="http://schemas.openxmlformats.org/officeDocument/2006/relationships/image" Target="../media/image58.png"/><Relationship Id="rId4" Type="http://schemas.openxmlformats.org/officeDocument/2006/relationships/image" Target="../media/image2.svg"/><Relationship Id="rId9" Type="http://schemas.openxmlformats.org/officeDocument/2006/relationships/image" Target="../media/image5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62.gif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jpeg"/><Relationship Id="rId5" Type="http://schemas.openxmlformats.org/officeDocument/2006/relationships/image" Target="../media/image55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3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63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0" r="-39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47097" y="3203426"/>
            <a:ext cx="3880147" cy="3880147"/>
          </a:xfrm>
          <a:custGeom>
            <a:avLst/>
            <a:gdLst/>
            <a:ahLst/>
            <a:cxnLst/>
            <a:rect l="l" t="t" r="r" b="b"/>
            <a:pathLst>
              <a:path w="3880147" h="3880147">
                <a:moveTo>
                  <a:pt x="0" y="0"/>
                </a:moveTo>
                <a:lnTo>
                  <a:pt x="3880147" y="0"/>
                </a:lnTo>
                <a:lnTo>
                  <a:pt x="3880147" y="3880148"/>
                </a:lnTo>
                <a:lnTo>
                  <a:pt x="0" y="38801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5457177" y="4209360"/>
            <a:ext cx="11284395" cy="2373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6"/>
              </a:lnSpc>
            </a:pPr>
            <a:r>
              <a:rPr lang="en-US" sz="18884" spc="-585" dirty="0">
                <a:gradFill>
                  <a:gsLst>
                    <a:gs pos="0">
                      <a:srgbClr val="86F8C5">
                        <a:alpha val="100000"/>
                      </a:srgbClr>
                    </a:gs>
                    <a:gs pos="100000">
                      <a:srgbClr val="2076E8">
                        <a:alpha val="100000"/>
                      </a:srgbClr>
                    </a:gs>
                  </a:gsLst>
                  <a:lin ang="5400000"/>
                </a:gradFill>
                <a:latin typeface="GoodTime Grotesk"/>
                <a:ea typeface="GoodTime Grotesk"/>
                <a:cs typeface="GoodTime Grotesk"/>
                <a:sym typeface="GoodTime Grotesk"/>
              </a:rPr>
              <a:t>BCDAYES </a:t>
            </a:r>
          </a:p>
        </p:txBody>
      </p:sp>
      <p:sp>
        <p:nvSpPr>
          <p:cNvPr id="5" name="Freeform 5"/>
          <p:cNvSpPr/>
          <p:nvPr/>
        </p:nvSpPr>
        <p:spPr>
          <a:xfrm>
            <a:off x="13651599" y="8998471"/>
            <a:ext cx="4393195" cy="1065350"/>
          </a:xfrm>
          <a:custGeom>
            <a:avLst/>
            <a:gdLst/>
            <a:ahLst/>
            <a:cxnLst/>
            <a:rect l="l" t="t" r="r" b="b"/>
            <a:pathLst>
              <a:path w="4393195" h="1065350">
                <a:moveTo>
                  <a:pt x="0" y="0"/>
                </a:moveTo>
                <a:lnTo>
                  <a:pt x="4393195" y="0"/>
                </a:lnTo>
                <a:lnTo>
                  <a:pt x="4393195" y="1065350"/>
                </a:lnTo>
                <a:lnTo>
                  <a:pt x="0" y="1065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0" r="-39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16954500" cy="2686050"/>
            <a:chOff x="0" y="0"/>
            <a:chExt cx="4987154" cy="7901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87156" cy="790100"/>
            </a:xfrm>
            <a:custGeom>
              <a:avLst/>
              <a:gdLst/>
              <a:ahLst/>
              <a:cxnLst/>
              <a:rect l="l" t="t" r="r" b="b"/>
              <a:pathLst>
                <a:path w="4987156" h="790100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78719" y="9390469"/>
            <a:ext cx="17566455" cy="779226"/>
            <a:chOff x="0" y="0"/>
            <a:chExt cx="23421940" cy="1038967"/>
          </a:xfrm>
        </p:grpSpPr>
        <p:sp>
          <p:nvSpPr>
            <p:cNvPr id="18" name="Freeform 18"/>
            <p:cNvSpPr/>
            <p:nvPr/>
          </p:nvSpPr>
          <p:spPr>
            <a:xfrm>
              <a:off x="0" y="172326"/>
              <a:ext cx="866641" cy="866641"/>
            </a:xfrm>
            <a:custGeom>
              <a:avLst/>
              <a:gdLst/>
              <a:ahLst/>
              <a:cxnLst/>
              <a:rect l="l" t="t" r="r" b="b"/>
              <a:pathLst>
                <a:path w="866641" h="866641">
                  <a:moveTo>
                    <a:pt x="0" y="0"/>
                  </a:moveTo>
                  <a:lnTo>
                    <a:pt x="866641" y="0"/>
                  </a:lnTo>
                  <a:lnTo>
                    <a:pt x="866641" y="866641"/>
                  </a:lnTo>
                  <a:lnTo>
                    <a:pt x="0" y="866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8693" y="271565"/>
              <a:ext cx="3457165" cy="7674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61"/>
                </a:lnSpc>
              </a:pPr>
              <a:r>
                <a:rPr lang="en-US" sz="4339" spc="-134">
                  <a:gradFill>
                    <a:gsLst>
                      <a:gs pos="0">
                        <a:srgbClr val="86F8C5">
                          <a:alpha val="100000"/>
                        </a:srgbClr>
                      </a:gs>
                      <a:gs pos="100000">
                        <a:srgbClr val="2076E8">
                          <a:alpha val="100000"/>
                        </a:srgbClr>
                      </a:gs>
                    </a:gsLst>
                    <a:lin ang="5400000"/>
                  </a:gradFill>
                  <a:latin typeface="GoodTime Grotesk"/>
                  <a:ea typeface="GoodTime Grotesk"/>
                  <a:cs typeface="GoodTime Grotesk"/>
                  <a:sym typeface="GoodTime Grotesk"/>
                </a:rPr>
                <a:t>BCDAYES 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19137538" y="0"/>
              <a:ext cx="4284402" cy="1038967"/>
            </a:xfrm>
            <a:custGeom>
              <a:avLst/>
              <a:gdLst/>
              <a:ahLst/>
              <a:cxnLst/>
              <a:rect l="l" t="t" r="r" b="b"/>
              <a:pathLst>
                <a:path w="4284402" h="1038967">
                  <a:moveTo>
                    <a:pt x="0" y="0"/>
                  </a:moveTo>
                  <a:lnTo>
                    <a:pt x="4284402" y="0"/>
                  </a:lnTo>
                  <a:lnTo>
                    <a:pt x="4284402" y="1038967"/>
                  </a:lnTo>
                  <a:lnTo>
                    <a:pt x="0" y="1038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ACB9F58-5197-E659-634B-1C57A6E4FA38}"/>
              </a:ext>
            </a:extLst>
          </p:cNvPr>
          <p:cNvSpPr txBox="1"/>
          <p:nvPr/>
        </p:nvSpPr>
        <p:spPr>
          <a:xfrm>
            <a:off x="666743" y="834901"/>
            <a:ext cx="16954507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75"/>
              </a:spcBef>
              <a:spcAft>
                <a:spcPts val="750"/>
              </a:spcAft>
              <a:buNone/>
            </a:pPr>
            <a:r>
              <a:rPr lang="en-GB" sz="4800" b="1" i="0" dirty="0" err="1">
                <a:effectLst/>
                <a:latin typeface="open sans" panose="020F0502020204030204" pitchFamily="34" charset="0"/>
              </a:rPr>
              <a:t>Agentes</a:t>
            </a:r>
            <a:r>
              <a:rPr lang="en-GB" sz="4800" b="1" i="0" dirty="0">
                <a:effectLst/>
                <a:latin typeface="open sans" panose="020F0502020204030204" pitchFamily="34" charset="0"/>
              </a:rPr>
              <a:t> al </a:t>
            </a:r>
            <a:r>
              <a:rPr lang="en-GB" sz="4800" b="1" i="0" dirty="0" err="1">
                <a:effectLst/>
                <a:latin typeface="open sans" panose="020F0502020204030204" pitchFamily="34" charset="0"/>
              </a:rPr>
              <a:t>Rescate</a:t>
            </a:r>
            <a:endParaRPr lang="en-GB" sz="4800" b="1" dirty="0">
              <a:latin typeface="open sans" panose="020F0502020204030204" pitchFamily="34" charset="0"/>
            </a:endParaRPr>
          </a:p>
          <a:p>
            <a:pPr algn="ctr">
              <a:spcBef>
                <a:spcPts val="375"/>
              </a:spcBef>
              <a:spcAft>
                <a:spcPts val="750"/>
              </a:spcAft>
              <a:buNone/>
            </a:pPr>
            <a:r>
              <a:rPr lang="en-GB" sz="4800" b="1" i="0" dirty="0">
                <a:effectLst/>
                <a:latin typeface="open sans" panose="020F0502020204030204" pitchFamily="34" charset="0"/>
              </a:rPr>
              <a:t> </a:t>
            </a:r>
            <a:r>
              <a:rPr lang="en-GB" sz="4800" b="1" i="0" dirty="0" err="1">
                <a:effectLst/>
                <a:latin typeface="open sans" panose="020F0502020204030204" pitchFamily="34" charset="0"/>
              </a:rPr>
              <a:t>Extendiendo</a:t>
            </a:r>
            <a:r>
              <a:rPr lang="en-GB" sz="4800" b="1" i="0" dirty="0">
                <a:effectLst/>
                <a:latin typeface="open sans" panose="020F0502020204030204" pitchFamily="34" charset="0"/>
              </a:rPr>
              <a:t> la </a:t>
            </a:r>
            <a:r>
              <a:rPr lang="en-GB" sz="4800" b="1" i="0" dirty="0" err="1">
                <a:effectLst/>
                <a:latin typeface="open sans" panose="020F0502020204030204" pitchFamily="34" charset="0"/>
              </a:rPr>
              <a:t>Integración</a:t>
            </a:r>
            <a:r>
              <a:rPr lang="en-GB" sz="4800" b="1" i="0" dirty="0">
                <a:effectLst/>
                <a:latin typeface="open sans" panose="020F0502020204030204" pitchFamily="34" charset="0"/>
              </a:rPr>
              <a:t> Business Central–Dataverse con GitHub Copilot</a:t>
            </a:r>
          </a:p>
        </p:txBody>
      </p:sp>
      <p:pic>
        <p:nvPicPr>
          <p:cNvPr id="8" name="Picture 7" descr="The image depicts a stylized, three-dimensional crystal-like object with a blue color scheme, showcasing a geometric, shiny appearance.&#10;&#10;AI-generated content may be incorrect.">
            <a:extLst>
              <a:ext uri="{FF2B5EF4-FFF2-40B4-BE49-F238E27FC236}">
                <a16:creationId xmlns:a16="http://schemas.microsoft.com/office/drawing/2014/main" id="{8F2A3B5A-71CE-1A59-CB11-5A7AB3FBC73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3447637"/>
            <a:ext cx="5067300" cy="5067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A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8407" y="436969"/>
            <a:ext cx="16954500" cy="8953500"/>
            <a:chOff x="0" y="0"/>
            <a:chExt cx="3299803" cy="17425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9803" cy="1742587"/>
            </a:xfrm>
            <a:custGeom>
              <a:avLst/>
              <a:gdLst/>
              <a:ahLst/>
              <a:cxnLst/>
              <a:rect l="l" t="t" r="r" b="b"/>
              <a:pathLst>
                <a:path w="3299803" h="1742587">
                  <a:moveTo>
                    <a:pt x="965120" y="1606277"/>
                  </a:moveTo>
                  <a:cubicBezTo>
                    <a:pt x="983327" y="1585924"/>
                    <a:pt x="1009342" y="1574291"/>
                    <a:pt x="1036650" y="1574291"/>
                  </a:cubicBezTo>
                  <a:lnTo>
                    <a:pt x="3213538" y="1574626"/>
                  </a:lnTo>
                  <a:cubicBezTo>
                    <a:pt x="3236413" y="1574639"/>
                    <a:pt x="3258355" y="1565561"/>
                    <a:pt x="3274534" y="1549390"/>
                  </a:cubicBezTo>
                  <a:cubicBezTo>
                    <a:pt x="3290713" y="1533220"/>
                    <a:pt x="3299803" y="1511283"/>
                    <a:pt x="3299803" y="1488408"/>
                  </a:cubicBezTo>
                  <a:lnTo>
                    <a:pt x="3299803" y="86219"/>
                  </a:lnTo>
                  <a:cubicBezTo>
                    <a:pt x="3299803" y="63352"/>
                    <a:pt x="3290719" y="41422"/>
                    <a:pt x="3274550" y="25253"/>
                  </a:cubicBezTo>
                  <a:cubicBezTo>
                    <a:pt x="3258381" y="9084"/>
                    <a:pt x="3236451" y="0"/>
                    <a:pt x="3213584" y="0"/>
                  </a:cubicBezTo>
                  <a:lnTo>
                    <a:pt x="303022" y="0"/>
                  </a:lnTo>
                  <a:cubicBezTo>
                    <a:pt x="278489" y="-1"/>
                    <a:pt x="255117" y="10450"/>
                    <a:pt x="238760" y="28735"/>
                  </a:cubicBezTo>
                  <a:lnTo>
                    <a:pt x="21960" y="271092"/>
                  </a:lnTo>
                  <a:cubicBezTo>
                    <a:pt x="7818" y="286900"/>
                    <a:pt x="0" y="307366"/>
                    <a:pt x="0" y="328576"/>
                  </a:cubicBezTo>
                  <a:lnTo>
                    <a:pt x="0" y="1656375"/>
                  </a:lnTo>
                  <a:cubicBezTo>
                    <a:pt x="4" y="1703990"/>
                    <a:pt x="38604" y="1742587"/>
                    <a:pt x="86219" y="1742587"/>
                  </a:cubicBezTo>
                  <a:lnTo>
                    <a:pt x="804624" y="1742587"/>
                  </a:lnTo>
                  <a:cubicBezTo>
                    <a:pt x="829157" y="1742588"/>
                    <a:pt x="852529" y="1732137"/>
                    <a:pt x="868886" y="171385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3686005" y="1027452"/>
            <a:ext cx="12046069" cy="1127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75"/>
              </a:lnSpc>
            </a:pPr>
            <a:r>
              <a:rPr lang="en-US" sz="8375" spc="-460">
                <a:gradFill>
                  <a:gsLst>
                    <a:gs pos="0">
                      <a:srgbClr val="86F8C5">
                        <a:alpha val="100000"/>
                      </a:srgbClr>
                    </a:gs>
                    <a:gs pos="100000">
                      <a:srgbClr val="2076E8">
                        <a:alpha val="100000"/>
                      </a:srgbClr>
                    </a:gs>
                  </a:gsLst>
                  <a:lin ang="5400000"/>
                </a:gradFill>
                <a:latin typeface="GoodTime Grotesk"/>
                <a:ea typeface="GoodTime Grotesk"/>
                <a:cs typeface="GoodTime Grotesk"/>
                <a:sym typeface="GoodTime Grotesk"/>
              </a:rPr>
              <a:t>Nuestros Patrocinadores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4915049" y="2297460"/>
            <a:ext cx="12104049" cy="5989109"/>
            <a:chOff x="0" y="0"/>
            <a:chExt cx="16138731" cy="7985479"/>
          </a:xfrm>
        </p:grpSpPr>
        <p:sp>
          <p:nvSpPr>
            <p:cNvPr id="6" name="Freeform 6"/>
            <p:cNvSpPr/>
            <p:nvPr/>
          </p:nvSpPr>
          <p:spPr>
            <a:xfrm>
              <a:off x="12265491" y="3326350"/>
              <a:ext cx="3873240" cy="979930"/>
            </a:xfrm>
            <a:custGeom>
              <a:avLst/>
              <a:gdLst/>
              <a:ahLst/>
              <a:cxnLst/>
              <a:rect l="l" t="t" r="r" b="b"/>
              <a:pathLst>
                <a:path w="3873240" h="979930">
                  <a:moveTo>
                    <a:pt x="0" y="0"/>
                  </a:moveTo>
                  <a:lnTo>
                    <a:pt x="3873240" y="0"/>
                  </a:lnTo>
                  <a:lnTo>
                    <a:pt x="3873240" y="979930"/>
                  </a:lnTo>
                  <a:lnTo>
                    <a:pt x="0" y="9799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11704918" y="680797"/>
              <a:ext cx="4425005" cy="1227939"/>
            </a:xfrm>
            <a:custGeom>
              <a:avLst/>
              <a:gdLst/>
              <a:ahLst/>
              <a:cxnLst/>
              <a:rect l="l" t="t" r="r" b="b"/>
              <a:pathLst>
                <a:path w="4425005" h="1227939">
                  <a:moveTo>
                    <a:pt x="0" y="0"/>
                  </a:moveTo>
                  <a:lnTo>
                    <a:pt x="4425005" y="0"/>
                  </a:lnTo>
                  <a:lnTo>
                    <a:pt x="4425005" y="1227938"/>
                  </a:lnTo>
                  <a:lnTo>
                    <a:pt x="0" y="12279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273141" y="0"/>
              <a:ext cx="1990173" cy="2816345"/>
            </a:xfrm>
            <a:custGeom>
              <a:avLst/>
              <a:gdLst/>
              <a:ahLst/>
              <a:cxnLst/>
              <a:rect l="l" t="t" r="r" b="b"/>
              <a:pathLst>
                <a:path w="1990173" h="2816345">
                  <a:moveTo>
                    <a:pt x="0" y="0"/>
                  </a:moveTo>
                  <a:lnTo>
                    <a:pt x="1990172" y="0"/>
                  </a:lnTo>
                  <a:lnTo>
                    <a:pt x="1990172" y="2816345"/>
                  </a:lnTo>
                  <a:lnTo>
                    <a:pt x="0" y="28163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5562440" y="3415681"/>
              <a:ext cx="5476427" cy="821464"/>
            </a:xfrm>
            <a:custGeom>
              <a:avLst/>
              <a:gdLst/>
              <a:ahLst/>
              <a:cxnLst/>
              <a:rect l="l" t="t" r="r" b="b"/>
              <a:pathLst>
                <a:path w="5476427" h="821464">
                  <a:moveTo>
                    <a:pt x="0" y="0"/>
                  </a:moveTo>
                  <a:lnTo>
                    <a:pt x="5476427" y="0"/>
                  </a:lnTo>
                  <a:lnTo>
                    <a:pt x="5476427" y="821464"/>
                  </a:lnTo>
                  <a:lnTo>
                    <a:pt x="0" y="821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6261962" y="879952"/>
              <a:ext cx="5331349" cy="1028784"/>
            </a:xfrm>
            <a:custGeom>
              <a:avLst/>
              <a:gdLst/>
              <a:ahLst/>
              <a:cxnLst/>
              <a:rect l="l" t="t" r="r" b="b"/>
              <a:pathLst>
                <a:path w="5331349" h="1028784">
                  <a:moveTo>
                    <a:pt x="0" y="0"/>
                  </a:moveTo>
                  <a:lnTo>
                    <a:pt x="5331348" y="0"/>
                  </a:lnTo>
                  <a:lnTo>
                    <a:pt x="5331348" y="1028783"/>
                  </a:lnTo>
                  <a:lnTo>
                    <a:pt x="0" y="1028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3159269"/>
              <a:ext cx="5119835" cy="1314091"/>
            </a:xfrm>
            <a:custGeom>
              <a:avLst/>
              <a:gdLst/>
              <a:ahLst/>
              <a:cxnLst/>
              <a:rect l="l" t="t" r="r" b="b"/>
              <a:pathLst>
                <a:path w="5119835" h="1314091">
                  <a:moveTo>
                    <a:pt x="0" y="0"/>
                  </a:moveTo>
                  <a:lnTo>
                    <a:pt x="5119835" y="0"/>
                  </a:lnTo>
                  <a:lnTo>
                    <a:pt x="5119835" y="1314091"/>
                  </a:lnTo>
                  <a:lnTo>
                    <a:pt x="0" y="13140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3462967" y="298914"/>
              <a:ext cx="2370948" cy="2370948"/>
            </a:xfrm>
            <a:custGeom>
              <a:avLst/>
              <a:gdLst/>
              <a:ahLst/>
              <a:cxnLst/>
              <a:rect l="l" t="t" r="r" b="b"/>
              <a:pathLst>
                <a:path w="2370948" h="2370948">
                  <a:moveTo>
                    <a:pt x="0" y="0"/>
                  </a:moveTo>
                  <a:lnTo>
                    <a:pt x="2370948" y="0"/>
                  </a:lnTo>
                  <a:lnTo>
                    <a:pt x="2370948" y="2370948"/>
                  </a:lnTo>
                  <a:lnTo>
                    <a:pt x="0" y="2370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7612707" y="7294174"/>
              <a:ext cx="2251488" cy="365867"/>
            </a:xfrm>
            <a:custGeom>
              <a:avLst/>
              <a:gdLst/>
              <a:ahLst/>
              <a:cxnLst/>
              <a:rect l="l" t="t" r="r" b="b"/>
              <a:pathLst>
                <a:path w="2251488" h="365867">
                  <a:moveTo>
                    <a:pt x="0" y="0"/>
                  </a:moveTo>
                  <a:lnTo>
                    <a:pt x="2251488" y="0"/>
                  </a:lnTo>
                  <a:lnTo>
                    <a:pt x="2251488" y="365867"/>
                  </a:lnTo>
                  <a:lnTo>
                    <a:pt x="0" y="3658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2965377" y="5735995"/>
              <a:ext cx="2171819" cy="970079"/>
            </a:xfrm>
            <a:custGeom>
              <a:avLst/>
              <a:gdLst/>
              <a:ahLst/>
              <a:cxnLst/>
              <a:rect l="l" t="t" r="r" b="b"/>
              <a:pathLst>
                <a:path w="2171819" h="970079">
                  <a:moveTo>
                    <a:pt x="0" y="0"/>
                  </a:moveTo>
                  <a:lnTo>
                    <a:pt x="2171818" y="0"/>
                  </a:lnTo>
                  <a:lnTo>
                    <a:pt x="2171818" y="970079"/>
                  </a:lnTo>
                  <a:lnTo>
                    <a:pt x="0" y="970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6411142" y="5720633"/>
              <a:ext cx="1727214" cy="1326254"/>
            </a:xfrm>
            <a:custGeom>
              <a:avLst/>
              <a:gdLst/>
              <a:ahLst/>
              <a:cxnLst/>
              <a:rect l="l" t="t" r="r" b="b"/>
              <a:pathLst>
                <a:path w="1727214" h="1326254">
                  <a:moveTo>
                    <a:pt x="0" y="0"/>
                  </a:moveTo>
                  <a:lnTo>
                    <a:pt x="1727214" y="0"/>
                  </a:lnTo>
                  <a:lnTo>
                    <a:pt x="1727214" y="1326254"/>
                  </a:lnTo>
                  <a:lnTo>
                    <a:pt x="0" y="1326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1013404" y="7221055"/>
              <a:ext cx="2449563" cy="512104"/>
            </a:xfrm>
            <a:custGeom>
              <a:avLst/>
              <a:gdLst/>
              <a:ahLst/>
              <a:cxnLst/>
              <a:rect l="l" t="t" r="r" b="b"/>
              <a:pathLst>
                <a:path w="2449563" h="512104">
                  <a:moveTo>
                    <a:pt x="0" y="0"/>
                  </a:moveTo>
                  <a:lnTo>
                    <a:pt x="2449563" y="0"/>
                  </a:lnTo>
                  <a:lnTo>
                    <a:pt x="2449563" y="512104"/>
                  </a:lnTo>
                  <a:lnTo>
                    <a:pt x="0" y="512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4427114" y="7046887"/>
              <a:ext cx="2049326" cy="938591"/>
            </a:xfrm>
            <a:custGeom>
              <a:avLst/>
              <a:gdLst/>
              <a:ahLst/>
              <a:cxnLst/>
              <a:rect l="l" t="t" r="r" b="b"/>
              <a:pathLst>
                <a:path w="2049326" h="938591">
                  <a:moveTo>
                    <a:pt x="0" y="0"/>
                  </a:moveTo>
                  <a:lnTo>
                    <a:pt x="2049325" y="0"/>
                  </a:lnTo>
                  <a:lnTo>
                    <a:pt x="2049325" y="938592"/>
                  </a:lnTo>
                  <a:lnTo>
                    <a:pt x="0" y="938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335377" y="5464073"/>
              <a:ext cx="1356053" cy="1356053"/>
            </a:xfrm>
            <a:custGeom>
              <a:avLst/>
              <a:gdLst/>
              <a:ahLst/>
              <a:cxnLst/>
              <a:rect l="l" t="t" r="r" b="b"/>
              <a:pathLst>
                <a:path w="1356053" h="1356053">
                  <a:moveTo>
                    <a:pt x="0" y="0"/>
                  </a:moveTo>
                  <a:lnTo>
                    <a:pt x="1356053" y="0"/>
                  </a:lnTo>
                  <a:lnTo>
                    <a:pt x="1356053" y="1356054"/>
                  </a:lnTo>
                  <a:lnTo>
                    <a:pt x="0" y="1356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9412302" y="5964100"/>
              <a:ext cx="2292616" cy="741974"/>
            </a:xfrm>
            <a:custGeom>
              <a:avLst/>
              <a:gdLst/>
              <a:ahLst/>
              <a:cxnLst/>
              <a:rect l="l" t="t" r="r" b="b"/>
              <a:pathLst>
                <a:path w="2292616" h="741974">
                  <a:moveTo>
                    <a:pt x="0" y="0"/>
                  </a:moveTo>
                  <a:lnTo>
                    <a:pt x="2292616" y="0"/>
                  </a:lnTo>
                  <a:lnTo>
                    <a:pt x="2292616" y="741974"/>
                  </a:lnTo>
                  <a:lnTo>
                    <a:pt x="0" y="741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10558610" y="7119485"/>
              <a:ext cx="1961502" cy="715244"/>
            </a:xfrm>
            <a:custGeom>
              <a:avLst/>
              <a:gdLst/>
              <a:ahLst/>
              <a:cxnLst/>
              <a:rect l="l" t="t" r="r" b="b"/>
              <a:pathLst>
                <a:path w="1961502" h="715244">
                  <a:moveTo>
                    <a:pt x="0" y="0"/>
                  </a:moveTo>
                  <a:lnTo>
                    <a:pt x="1961502" y="0"/>
                  </a:lnTo>
                  <a:lnTo>
                    <a:pt x="1961502" y="715244"/>
                  </a:lnTo>
                  <a:lnTo>
                    <a:pt x="0" y="715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12978864" y="6088518"/>
              <a:ext cx="2405550" cy="493138"/>
            </a:xfrm>
            <a:custGeom>
              <a:avLst/>
              <a:gdLst/>
              <a:ahLst/>
              <a:cxnLst/>
              <a:rect l="l" t="t" r="r" b="b"/>
              <a:pathLst>
                <a:path w="2405550" h="493138">
                  <a:moveTo>
                    <a:pt x="0" y="0"/>
                  </a:moveTo>
                  <a:lnTo>
                    <a:pt x="2405550" y="0"/>
                  </a:lnTo>
                  <a:lnTo>
                    <a:pt x="2405550" y="493138"/>
                  </a:lnTo>
                  <a:lnTo>
                    <a:pt x="0" y="493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Freeform 22"/>
          <p:cNvSpPr/>
          <p:nvPr/>
        </p:nvSpPr>
        <p:spPr>
          <a:xfrm>
            <a:off x="14833605" y="7713251"/>
            <a:ext cx="1241763" cy="384078"/>
          </a:xfrm>
          <a:custGeom>
            <a:avLst/>
            <a:gdLst/>
            <a:ahLst/>
            <a:cxnLst/>
            <a:rect l="l" t="t" r="r" b="b"/>
            <a:pathLst>
              <a:path w="1060443" h="308511">
                <a:moveTo>
                  <a:pt x="0" y="0"/>
                </a:moveTo>
                <a:lnTo>
                  <a:pt x="1060443" y="0"/>
                </a:lnTo>
                <a:lnTo>
                  <a:pt x="1060443" y="308511"/>
                </a:lnTo>
                <a:lnTo>
                  <a:pt x="0" y="30851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3" name="Group 23"/>
          <p:cNvGrpSpPr/>
          <p:nvPr/>
        </p:nvGrpSpPr>
        <p:grpSpPr>
          <a:xfrm>
            <a:off x="378719" y="9390469"/>
            <a:ext cx="17566455" cy="779226"/>
            <a:chOff x="0" y="0"/>
            <a:chExt cx="23421940" cy="1038967"/>
          </a:xfrm>
        </p:grpSpPr>
        <p:sp>
          <p:nvSpPr>
            <p:cNvPr id="24" name="Freeform 24"/>
            <p:cNvSpPr/>
            <p:nvPr/>
          </p:nvSpPr>
          <p:spPr>
            <a:xfrm>
              <a:off x="0" y="172326"/>
              <a:ext cx="866641" cy="866641"/>
            </a:xfrm>
            <a:custGeom>
              <a:avLst/>
              <a:gdLst/>
              <a:ahLst/>
              <a:cxnLst/>
              <a:rect l="l" t="t" r="r" b="b"/>
              <a:pathLst>
                <a:path w="866641" h="866641">
                  <a:moveTo>
                    <a:pt x="0" y="0"/>
                  </a:moveTo>
                  <a:lnTo>
                    <a:pt x="866641" y="0"/>
                  </a:lnTo>
                  <a:lnTo>
                    <a:pt x="866641" y="866641"/>
                  </a:lnTo>
                  <a:lnTo>
                    <a:pt x="0" y="866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38693" y="271565"/>
              <a:ext cx="3457165" cy="7674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61"/>
                </a:lnSpc>
              </a:pPr>
              <a:r>
                <a:rPr lang="en-US" sz="4339" spc="-134">
                  <a:gradFill>
                    <a:gsLst>
                      <a:gs pos="0">
                        <a:srgbClr val="86F8C5">
                          <a:alpha val="100000"/>
                        </a:srgbClr>
                      </a:gs>
                      <a:gs pos="100000">
                        <a:srgbClr val="2076E8">
                          <a:alpha val="100000"/>
                        </a:srgbClr>
                      </a:gs>
                    </a:gsLst>
                    <a:lin ang="5400000"/>
                  </a:gradFill>
                  <a:latin typeface="GoodTime Grotesk"/>
                  <a:ea typeface="GoodTime Grotesk"/>
                  <a:cs typeface="GoodTime Grotesk"/>
                  <a:sym typeface="GoodTime Grotesk"/>
                </a:rPr>
                <a:t>BCDAYES 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19137538" y="0"/>
              <a:ext cx="4284402" cy="1038967"/>
            </a:xfrm>
            <a:custGeom>
              <a:avLst/>
              <a:gdLst/>
              <a:ahLst/>
              <a:cxnLst/>
              <a:rect l="l" t="t" r="r" b="b"/>
              <a:pathLst>
                <a:path w="4284402" h="1038967">
                  <a:moveTo>
                    <a:pt x="0" y="0"/>
                  </a:moveTo>
                  <a:lnTo>
                    <a:pt x="4284402" y="0"/>
                  </a:lnTo>
                  <a:lnTo>
                    <a:pt x="4284402" y="1038967"/>
                  </a:lnTo>
                  <a:lnTo>
                    <a:pt x="0" y="1038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563420" y="3273400"/>
            <a:ext cx="4166928" cy="949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999"/>
              </a:lnSpc>
            </a:pPr>
            <a:r>
              <a:rPr lang="en-US" sz="6999" spc="-384">
                <a:gradFill>
                  <a:gsLst>
                    <a:gs pos="0">
                      <a:srgbClr val="86F8C5">
                        <a:alpha val="100000"/>
                      </a:srgbClr>
                    </a:gs>
                    <a:gs pos="100000">
                      <a:srgbClr val="2076E8">
                        <a:alpha val="100000"/>
                      </a:srgbClr>
                    </a:gs>
                  </a:gsLst>
                  <a:lin ang="5400000"/>
                </a:gradFill>
                <a:latin typeface="GoodTime Grotesk"/>
                <a:ea typeface="GoodTime Grotesk"/>
                <a:cs typeface="GoodTime Grotesk"/>
                <a:sym typeface="GoodTime Grotesk"/>
              </a:rPr>
              <a:t>PREMIUM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78719" y="6811726"/>
            <a:ext cx="4536330" cy="949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999"/>
              </a:lnSpc>
            </a:pPr>
            <a:r>
              <a:rPr lang="en-US" sz="6999" spc="-384">
                <a:gradFill>
                  <a:gsLst>
                    <a:gs pos="0">
                      <a:srgbClr val="86F8C5">
                        <a:alpha val="100000"/>
                      </a:srgbClr>
                    </a:gs>
                    <a:gs pos="100000">
                      <a:srgbClr val="2076E8">
                        <a:alpha val="100000"/>
                      </a:srgbClr>
                    </a:gs>
                  </a:gsLst>
                  <a:lin ang="5400000"/>
                </a:gradFill>
                <a:latin typeface="GoodTime Grotesk"/>
                <a:ea typeface="GoodTime Grotesk"/>
                <a:cs typeface="GoodTime Grotesk"/>
                <a:sym typeface="GoodTime Grotesk"/>
              </a:rPr>
              <a:t>ESSENTIAL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0" r="-39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710862" y="419100"/>
            <a:ext cx="16954500" cy="2686050"/>
            <a:chOff x="0" y="0"/>
            <a:chExt cx="4987154" cy="7901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87156" cy="790100"/>
            </a:xfrm>
            <a:custGeom>
              <a:avLst/>
              <a:gdLst/>
              <a:ahLst/>
              <a:cxnLst/>
              <a:rect l="l" t="t" r="r" b="b"/>
              <a:pathLst>
                <a:path w="4987156" h="790100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734675" y="3657600"/>
            <a:ext cx="6886575" cy="5600700"/>
            <a:chOff x="0" y="0"/>
            <a:chExt cx="1813748" cy="14750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13748" cy="1475081"/>
            </a:xfrm>
            <a:custGeom>
              <a:avLst/>
              <a:gdLst/>
              <a:ahLst/>
              <a:cxnLst/>
              <a:rect l="l" t="t" r="r" b="b"/>
              <a:pathLst>
                <a:path w="1813748" h="1475081">
                  <a:moveTo>
                    <a:pt x="44968" y="0"/>
                  </a:moveTo>
                  <a:lnTo>
                    <a:pt x="1768780" y="0"/>
                  </a:lnTo>
                  <a:cubicBezTo>
                    <a:pt x="1780706" y="0"/>
                    <a:pt x="1792144" y="4738"/>
                    <a:pt x="1800577" y="13171"/>
                  </a:cubicBezTo>
                  <a:cubicBezTo>
                    <a:pt x="1809011" y="21604"/>
                    <a:pt x="1813748" y="33042"/>
                    <a:pt x="1813748" y="44968"/>
                  </a:cubicBezTo>
                  <a:lnTo>
                    <a:pt x="1813748" y="1430113"/>
                  </a:lnTo>
                  <a:cubicBezTo>
                    <a:pt x="1813748" y="1442040"/>
                    <a:pt x="1809011" y="1453477"/>
                    <a:pt x="1800577" y="1461911"/>
                  </a:cubicBezTo>
                  <a:cubicBezTo>
                    <a:pt x="1792144" y="1470344"/>
                    <a:pt x="1780706" y="1475081"/>
                    <a:pt x="1768780" y="1475081"/>
                  </a:cubicBezTo>
                  <a:lnTo>
                    <a:pt x="44968" y="1475081"/>
                  </a:lnTo>
                  <a:cubicBezTo>
                    <a:pt x="33042" y="1475081"/>
                    <a:pt x="21604" y="1470344"/>
                    <a:pt x="13171" y="1461911"/>
                  </a:cubicBezTo>
                  <a:cubicBezTo>
                    <a:pt x="4738" y="1453477"/>
                    <a:pt x="0" y="1442040"/>
                    <a:pt x="0" y="1430113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813748" cy="15227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3390309"/>
            <a:ext cx="9763125" cy="5962650"/>
            <a:chOff x="0" y="0"/>
            <a:chExt cx="2115675" cy="129211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15675" cy="1292110"/>
            </a:xfrm>
            <a:custGeom>
              <a:avLst/>
              <a:gdLst/>
              <a:ahLst/>
              <a:cxnLst/>
              <a:rect l="l" t="t" r="r" b="b"/>
              <a:pathLst>
                <a:path w="2115675" h="1292110">
                  <a:moveTo>
                    <a:pt x="0" y="124380"/>
                  </a:moveTo>
                  <a:lnTo>
                    <a:pt x="0" y="895952"/>
                  </a:lnTo>
                  <a:cubicBezTo>
                    <a:pt x="0" y="964645"/>
                    <a:pt x="55687" y="1020332"/>
                    <a:pt x="124380" y="1020332"/>
                  </a:cubicBezTo>
                  <a:lnTo>
                    <a:pt x="267087" y="1020332"/>
                  </a:lnTo>
                  <a:cubicBezTo>
                    <a:pt x="303063" y="1020332"/>
                    <a:pt x="337276" y="1035909"/>
                    <a:pt x="360898" y="1063042"/>
                  </a:cubicBezTo>
                  <a:lnTo>
                    <a:pt x="523133" y="1249398"/>
                  </a:lnTo>
                  <a:cubicBezTo>
                    <a:pt x="546755" y="1276532"/>
                    <a:pt x="580969" y="1292109"/>
                    <a:pt x="616944" y="1292110"/>
                  </a:cubicBezTo>
                  <a:lnTo>
                    <a:pt x="1821814" y="1292110"/>
                  </a:lnTo>
                  <a:cubicBezTo>
                    <a:pt x="1857723" y="1292109"/>
                    <a:pt x="1891879" y="1276590"/>
                    <a:pt x="1915499" y="1249544"/>
                  </a:cubicBezTo>
                  <a:lnTo>
                    <a:pt x="2074689" y="1067262"/>
                  </a:lnTo>
                  <a:cubicBezTo>
                    <a:pt x="2101113" y="1037005"/>
                    <a:pt x="2115674" y="998196"/>
                    <a:pt x="2115675" y="958025"/>
                  </a:cubicBezTo>
                  <a:lnTo>
                    <a:pt x="2115675" y="124380"/>
                  </a:lnTo>
                  <a:cubicBezTo>
                    <a:pt x="2115675" y="91391"/>
                    <a:pt x="2102570" y="59754"/>
                    <a:pt x="2079243" y="36428"/>
                  </a:cubicBezTo>
                  <a:cubicBezTo>
                    <a:pt x="2055916" y="13102"/>
                    <a:pt x="2024278" y="-1"/>
                    <a:pt x="1991290" y="0"/>
                  </a:cubicBezTo>
                  <a:lnTo>
                    <a:pt x="124380" y="0"/>
                  </a:lnTo>
                  <a:cubicBezTo>
                    <a:pt x="55687" y="0"/>
                    <a:pt x="0" y="55687"/>
                    <a:pt x="0" y="124380"/>
                  </a:cubicBezTo>
                  <a:close/>
                </a:path>
              </a:pathLst>
            </a:custGeom>
            <a:blipFill>
              <a:blip r:embed="rId3"/>
              <a:stretch>
                <a:fillRect l="-473" r="-47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972800" y="4155887"/>
            <a:ext cx="6666404" cy="467288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1143000" lvl="0" indent="-1143000">
              <a:lnSpc>
                <a:spcPts val="36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4800" u="none" strike="noStrike" spc="-165" dirty="0">
                <a:gradFill>
                  <a:gsLst>
                    <a:gs pos="0">
                      <a:srgbClr val="86F8C5">
                        <a:alpha val="100000"/>
                      </a:srgbClr>
                    </a:gs>
                    <a:gs pos="100000">
                      <a:srgbClr val="2076E8">
                        <a:alpha val="100000"/>
                      </a:srgbClr>
                    </a:gs>
                  </a:gsLst>
                  <a:lin ang="5400000"/>
                </a:gradFill>
                <a:latin typeface="GoodTime Grotesk"/>
                <a:ea typeface="GoodTime Grotesk"/>
                <a:cs typeface="GoodTime Grotesk"/>
                <a:sym typeface="GoodTime Grotesk"/>
              </a:rPr>
              <a:t>Who is </a:t>
            </a:r>
            <a:r>
              <a:rPr lang="en-US" sz="4800" spc="-165" dirty="0">
                <a:gradFill>
                  <a:gsLst>
                    <a:gs pos="0">
                      <a:srgbClr val="86F8C5">
                        <a:alpha val="100000"/>
                      </a:srgbClr>
                    </a:gs>
                    <a:gs pos="100000">
                      <a:srgbClr val="2076E8">
                        <a:alpha val="100000"/>
                      </a:srgbClr>
                    </a:gs>
                  </a:gsLst>
                  <a:lin ang="5400000"/>
                </a:gradFill>
                <a:latin typeface="GoodTime Grotesk"/>
                <a:ea typeface="GoodTime Grotesk"/>
                <a:cs typeface="GoodTime Grotesk"/>
                <a:sym typeface="GoodTime Grotesk"/>
              </a:rPr>
              <a:t>Fer? 👨‍💻</a:t>
            </a:r>
            <a:endParaRPr lang="en-US" sz="4800" u="none" strike="noStrike" spc="-165" dirty="0">
              <a:gradFill>
                <a:gsLst>
                  <a:gs pos="0">
                    <a:srgbClr val="86F8C5">
                      <a:alpha val="100000"/>
                    </a:srgbClr>
                  </a:gs>
                  <a:gs pos="100000">
                    <a:srgbClr val="2076E8">
                      <a:alpha val="100000"/>
                    </a:srgbClr>
                  </a:gs>
                </a:gsLst>
                <a:lin ang="5400000"/>
              </a:gradFill>
              <a:latin typeface="GoodTime Grotesk"/>
              <a:ea typeface="GoodTime Grotesk"/>
              <a:cs typeface="GoodTime Grotesk"/>
              <a:sym typeface="GoodTime Grotesk"/>
            </a:endParaRPr>
          </a:p>
          <a:p>
            <a:pPr marL="1143000" lvl="0" indent="-1143000">
              <a:lnSpc>
                <a:spcPts val="3600"/>
              </a:lnSpc>
              <a:spcBef>
                <a:spcPct val="0"/>
              </a:spcBef>
              <a:buFont typeface="+mj-lt"/>
              <a:buAutoNum type="arabicPeriod"/>
            </a:pPr>
            <a:endParaRPr lang="en-US" sz="4800" u="none" strike="noStrike" spc="-165" dirty="0">
              <a:gradFill>
                <a:gsLst>
                  <a:gs pos="0">
                    <a:srgbClr val="86F8C5">
                      <a:alpha val="100000"/>
                    </a:srgbClr>
                  </a:gs>
                  <a:gs pos="100000">
                    <a:srgbClr val="2076E8">
                      <a:alpha val="100000"/>
                    </a:srgbClr>
                  </a:gs>
                </a:gsLst>
                <a:lin ang="5400000"/>
              </a:gradFill>
              <a:latin typeface="GoodTime Grotesk"/>
              <a:ea typeface="GoodTime Grotesk"/>
              <a:cs typeface="GoodTime Grotesk"/>
              <a:sym typeface="GoodTime Grotesk"/>
            </a:endParaRPr>
          </a:p>
          <a:p>
            <a:pPr marL="1143000" lvl="0" indent="-1143000">
              <a:lnSpc>
                <a:spcPts val="36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4800" u="none" strike="noStrike" spc="-165" dirty="0">
                <a:gradFill>
                  <a:gsLst>
                    <a:gs pos="0">
                      <a:srgbClr val="86F8C5">
                        <a:alpha val="100000"/>
                      </a:srgbClr>
                    </a:gs>
                    <a:gs pos="100000">
                      <a:srgbClr val="2076E8">
                        <a:alpha val="100000"/>
                      </a:srgbClr>
                    </a:gs>
                  </a:gsLst>
                  <a:lin ang="5400000"/>
                </a:gradFill>
                <a:latin typeface="GoodTime Grotesk"/>
                <a:ea typeface="GoodTime Grotesk"/>
                <a:cs typeface="GoodTime Grotesk"/>
                <a:sym typeface="GoodTime Grotesk"/>
              </a:rPr>
              <a:t>A HYPE World</a:t>
            </a:r>
            <a:r>
              <a:rPr lang="en-US" sz="4800" spc="-165" dirty="0">
                <a:gradFill>
                  <a:gsLst>
                    <a:gs pos="0">
                      <a:srgbClr val="86F8C5">
                        <a:alpha val="100000"/>
                      </a:srgbClr>
                    </a:gs>
                    <a:gs pos="100000">
                      <a:srgbClr val="2076E8">
                        <a:alpha val="100000"/>
                      </a:srgbClr>
                    </a:gs>
                  </a:gsLst>
                  <a:lin ang="5400000"/>
                </a:gradFill>
                <a:latin typeface="GoodTime Grotesk"/>
                <a:ea typeface="GoodTime Grotesk"/>
                <a:cs typeface="GoodTime Grotesk"/>
                <a:sym typeface="GoodTime Grotesk"/>
              </a:rPr>
              <a:t>!🔥</a:t>
            </a:r>
            <a:endParaRPr lang="en-US" sz="4800" u="none" strike="noStrike" spc="-165" dirty="0">
              <a:gradFill>
                <a:gsLst>
                  <a:gs pos="0">
                    <a:srgbClr val="86F8C5">
                      <a:alpha val="100000"/>
                    </a:srgbClr>
                  </a:gs>
                  <a:gs pos="100000">
                    <a:srgbClr val="2076E8">
                      <a:alpha val="100000"/>
                    </a:srgbClr>
                  </a:gs>
                </a:gsLst>
                <a:lin ang="5400000"/>
              </a:gradFill>
              <a:latin typeface="GoodTime Grotesk"/>
              <a:ea typeface="GoodTime Grotesk"/>
              <a:cs typeface="GoodTime Grotesk"/>
              <a:sym typeface="GoodTime Grotesk"/>
            </a:endParaRPr>
          </a:p>
          <a:p>
            <a:pPr marL="1143000" lvl="0" indent="-1143000">
              <a:lnSpc>
                <a:spcPts val="3600"/>
              </a:lnSpc>
              <a:spcBef>
                <a:spcPct val="0"/>
              </a:spcBef>
              <a:buFont typeface="+mj-lt"/>
              <a:buAutoNum type="arabicPeriod"/>
            </a:pPr>
            <a:endParaRPr lang="en-US" sz="4800" spc="-165" dirty="0">
              <a:gradFill>
                <a:gsLst>
                  <a:gs pos="0">
                    <a:srgbClr val="86F8C5">
                      <a:alpha val="100000"/>
                    </a:srgbClr>
                  </a:gs>
                  <a:gs pos="100000">
                    <a:srgbClr val="2076E8">
                      <a:alpha val="100000"/>
                    </a:srgbClr>
                  </a:gs>
                </a:gsLst>
                <a:lin ang="5400000"/>
              </a:gradFill>
              <a:latin typeface="GoodTime Grotesk"/>
              <a:ea typeface="GoodTime Grotesk"/>
              <a:cs typeface="GoodTime Grotesk"/>
              <a:sym typeface="GoodTime Grotesk"/>
            </a:endParaRPr>
          </a:p>
          <a:p>
            <a:pPr marL="1143000" lvl="0" indent="-1143000">
              <a:lnSpc>
                <a:spcPts val="36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4800" u="none" strike="noStrike" spc="-165" dirty="0">
                <a:gradFill>
                  <a:gsLst>
                    <a:gs pos="0">
                      <a:srgbClr val="86F8C5">
                        <a:alpha val="100000"/>
                      </a:srgbClr>
                    </a:gs>
                    <a:gs pos="100000">
                      <a:srgbClr val="2076E8">
                        <a:alpha val="100000"/>
                      </a:srgbClr>
                    </a:gs>
                  </a:gsLst>
                  <a:lin ang="5400000"/>
                </a:gradFill>
                <a:latin typeface="GoodTime Grotesk"/>
                <a:ea typeface="GoodTime Grotesk"/>
                <a:cs typeface="GoodTime Grotesk"/>
                <a:sym typeface="GoodTime Grotesk"/>
              </a:rPr>
              <a:t>The age </a:t>
            </a:r>
            <a:r>
              <a:rPr lang="en-US" sz="4800" spc="-165" dirty="0">
                <a:gradFill>
                  <a:gsLst>
                    <a:gs pos="0">
                      <a:srgbClr val="86F8C5">
                        <a:alpha val="100000"/>
                      </a:srgbClr>
                    </a:gs>
                    <a:gs pos="100000">
                      <a:srgbClr val="2076E8">
                        <a:alpha val="100000"/>
                      </a:srgbClr>
                    </a:gs>
                  </a:gsLst>
                  <a:lin ang="5400000"/>
                </a:gradFill>
                <a:latin typeface="GoodTime Grotesk"/>
                <a:ea typeface="GoodTime Grotesk"/>
                <a:cs typeface="GoodTime Grotesk"/>
                <a:sym typeface="GoodTime Grotesk"/>
              </a:rPr>
              <a:t>of frameworks 🛠️</a:t>
            </a:r>
            <a:endParaRPr lang="en-US" sz="4800" u="none" strike="noStrike" spc="-165" dirty="0">
              <a:gradFill>
                <a:gsLst>
                  <a:gs pos="0">
                    <a:srgbClr val="86F8C5">
                      <a:alpha val="100000"/>
                    </a:srgbClr>
                  </a:gs>
                  <a:gs pos="100000">
                    <a:srgbClr val="2076E8">
                      <a:alpha val="100000"/>
                    </a:srgbClr>
                  </a:gs>
                </a:gsLst>
                <a:lin ang="5400000"/>
              </a:gradFill>
              <a:latin typeface="GoodTime Grotesk"/>
              <a:ea typeface="GoodTime Grotesk"/>
              <a:cs typeface="GoodTime Grotesk"/>
              <a:sym typeface="GoodTime Grotesk"/>
            </a:endParaRPr>
          </a:p>
          <a:p>
            <a:pPr marL="1143000" lvl="0" indent="-1143000">
              <a:lnSpc>
                <a:spcPts val="3600"/>
              </a:lnSpc>
              <a:spcBef>
                <a:spcPct val="0"/>
              </a:spcBef>
              <a:buFont typeface="+mj-lt"/>
              <a:buAutoNum type="arabicPeriod"/>
            </a:pPr>
            <a:endParaRPr lang="en-US" sz="4800" spc="-165" dirty="0">
              <a:gradFill>
                <a:gsLst>
                  <a:gs pos="0">
                    <a:srgbClr val="86F8C5">
                      <a:alpha val="100000"/>
                    </a:srgbClr>
                  </a:gs>
                  <a:gs pos="100000">
                    <a:srgbClr val="2076E8">
                      <a:alpha val="100000"/>
                    </a:srgbClr>
                  </a:gs>
                </a:gsLst>
                <a:lin ang="5400000"/>
              </a:gradFill>
              <a:latin typeface="GoodTime Grotesk"/>
              <a:ea typeface="GoodTime Grotesk"/>
              <a:cs typeface="GoodTime Grotesk"/>
              <a:sym typeface="GoodTime Grotesk"/>
            </a:endParaRPr>
          </a:p>
          <a:p>
            <a:pPr marL="1143000" lvl="0" indent="-1143000">
              <a:lnSpc>
                <a:spcPts val="36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4800" u="none" strike="noStrike" spc="-165" dirty="0">
                <a:gradFill>
                  <a:gsLst>
                    <a:gs pos="0">
                      <a:srgbClr val="86F8C5">
                        <a:alpha val="100000"/>
                      </a:srgbClr>
                    </a:gs>
                    <a:gs pos="100000">
                      <a:srgbClr val="2076E8">
                        <a:alpha val="100000"/>
                      </a:srgbClr>
                    </a:gs>
                  </a:gsLst>
                  <a:lin ang="5400000"/>
                </a:gradFill>
                <a:latin typeface="GoodTime Grotesk"/>
                <a:ea typeface="GoodTime Grotesk"/>
                <a:cs typeface="GoodTime Grotesk"/>
                <a:sym typeface="GoodTime Grotesk"/>
              </a:rPr>
              <a:t>Show </a:t>
            </a:r>
            <a:r>
              <a:rPr lang="en-US" sz="4800" spc="-165" dirty="0">
                <a:gradFill>
                  <a:gsLst>
                    <a:gs pos="0">
                      <a:srgbClr val="86F8C5">
                        <a:alpha val="100000"/>
                      </a:srgbClr>
                    </a:gs>
                    <a:gs pos="100000">
                      <a:srgbClr val="2076E8">
                        <a:alpha val="100000"/>
                      </a:srgbClr>
                    </a:gs>
                  </a:gsLst>
                  <a:lin ang="5400000"/>
                </a:gradFill>
                <a:latin typeface="GoodTime Grotesk"/>
                <a:ea typeface="GoodTime Grotesk"/>
                <a:cs typeface="GoodTime Grotesk"/>
                <a:sym typeface="GoodTime Grotesk"/>
              </a:rPr>
              <a:t>Time! 🎪</a:t>
            </a:r>
            <a:endParaRPr lang="en-US" sz="4800" u="none" strike="noStrike" spc="-165" dirty="0">
              <a:gradFill>
                <a:gsLst>
                  <a:gs pos="0">
                    <a:srgbClr val="86F8C5">
                      <a:alpha val="100000"/>
                    </a:srgbClr>
                  </a:gs>
                  <a:gs pos="100000">
                    <a:srgbClr val="2076E8">
                      <a:alpha val="100000"/>
                    </a:srgbClr>
                  </a:gs>
                </a:gsLst>
                <a:lin ang="5400000"/>
              </a:gradFill>
              <a:latin typeface="GoodTime Grotesk"/>
              <a:ea typeface="GoodTime Grotesk"/>
              <a:cs typeface="GoodTime Grotesk"/>
              <a:sym typeface="GoodTime Grotesk"/>
            </a:endParaRPr>
          </a:p>
          <a:p>
            <a:pPr marL="1143000" lvl="0" indent="-1143000">
              <a:lnSpc>
                <a:spcPts val="3600"/>
              </a:lnSpc>
              <a:spcBef>
                <a:spcPct val="0"/>
              </a:spcBef>
              <a:buFont typeface="+mj-lt"/>
              <a:buAutoNum type="arabicPeriod"/>
            </a:pPr>
            <a:endParaRPr lang="en-US" sz="4800" spc="-165" dirty="0">
              <a:gradFill>
                <a:gsLst>
                  <a:gs pos="0">
                    <a:srgbClr val="86F8C5">
                      <a:alpha val="100000"/>
                    </a:srgbClr>
                  </a:gs>
                  <a:gs pos="100000">
                    <a:srgbClr val="2076E8">
                      <a:alpha val="100000"/>
                    </a:srgbClr>
                  </a:gs>
                </a:gsLst>
                <a:lin ang="5400000"/>
              </a:gradFill>
              <a:latin typeface="GoodTime Grotesk"/>
              <a:ea typeface="GoodTime Grotesk"/>
              <a:cs typeface="GoodTime Grotesk"/>
              <a:sym typeface="GoodTime Grotesk"/>
            </a:endParaRPr>
          </a:p>
          <a:p>
            <a:pPr marL="1143000" lvl="0" indent="-1143000">
              <a:lnSpc>
                <a:spcPts val="36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4800" spc="-165" dirty="0">
                <a:gradFill>
                  <a:gsLst>
                    <a:gs pos="0">
                      <a:srgbClr val="86F8C5">
                        <a:alpha val="100000"/>
                      </a:srgbClr>
                    </a:gs>
                    <a:gs pos="100000">
                      <a:srgbClr val="2076E8">
                        <a:alpha val="100000"/>
                      </a:srgbClr>
                    </a:gs>
                  </a:gsLst>
                  <a:lin ang="5400000"/>
                </a:gradFill>
                <a:latin typeface="GoodTime Grotesk"/>
                <a:ea typeface="GoodTime Grotesk"/>
                <a:cs typeface="GoodTime Grotesk"/>
                <a:sym typeface="GoodTime Grotesk"/>
              </a:rPr>
              <a:t>Takeaways 🍱</a:t>
            </a:r>
            <a:endParaRPr lang="en-US" sz="4800" u="none" strike="noStrike" spc="-165" dirty="0">
              <a:gradFill>
                <a:gsLst>
                  <a:gs pos="0">
                    <a:srgbClr val="86F8C5">
                      <a:alpha val="100000"/>
                    </a:srgbClr>
                  </a:gs>
                  <a:gs pos="100000">
                    <a:srgbClr val="2076E8">
                      <a:alpha val="100000"/>
                    </a:srgbClr>
                  </a:gs>
                </a:gsLst>
                <a:lin ang="5400000"/>
              </a:gradFill>
              <a:latin typeface="GoodTime Grotesk"/>
              <a:ea typeface="GoodTime Grotesk"/>
              <a:cs typeface="GoodTime Grotesk"/>
              <a:sym typeface="GoodTime Grotesk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532295" y="1171575"/>
            <a:ext cx="14077950" cy="917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49"/>
              </a:lnSpc>
              <a:spcBef>
                <a:spcPct val="0"/>
              </a:spcBef>
            </a:pPr>
            <a:r>
              <a:rPr lang="en-US" sz="6999" u="none" strike="noStrike" spc="-384" dirty="0">
                <a:gradFill>
                  <a:gsLst>
                    <a:gs pos="0">
                      <a:srgbClr val="86F8C5">
                        <a:alpha val="100000"/>
                      </a:srgbClr>
                    </a:gs>
                    <a:gs pos="100000">
                      <a:srgbClr val="2076E8">
                        <a:alpha val="100000"/>
                      </a:srgbClr>
                    </a:gs>
                  </a:gsLst>
                  <a:lin ang="5400000"/>
                </a:gradFill>
                <a:latin typeface="GoodTime Grotesk"/>
                <a:ea typeface="GoodTime Grotesk"/>
                <a:cs typeface="GoodTime Grotesk"/>
                <a:sym typeface="GoodTime Grotesk"/>
              </a:rPr>
              <a:t>Session Agenda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378719" y="9390469"/>
            <a:ext cx="17566455" cy="779226"/>
            <a:chOff x="0" y="0"/>
            <a:chExt cx="23421940" cy="1038967"/>
          </a:xfrm>
        </p:grpSpPr>
        <p:sp>
          <p:nvSpPr>
            <p:cNvPr id="18" name="Freeform 18"/>
            <p:cNvSpPr/>
            <p:nvPr/>
          </p:nvSpPr>
          <p:spPr>
            <a:xfrm>
              <a:off x="0" y="172326"/>
              <a:ext cx="866641" cy="866641"/>
            </a:xfrm>
            <a:custGeom>
              <a:avLst/>
              <a:gdLst/>
              <a:ahLst/>
              <a:cxnLst/>
              <a:rect l="l" t="t" r="r" b="b"/>
              <a:pathLst>
                <a:path w="866641" h="866641">
                  <a:moveTo>
                    <a:pt x="0" y="0"/>
                  </a:moveTo>
                  <a:lnTo>
                    <a:pt x="866641" y="0"/>
                  </a:lnTo>
                  <a:lnTo>
                    <a:pt x="866641" y="866641"/>
                  </a:lnTo>
                  <a:lnTo>
                    <a:pt x="0" y="866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8693" y="271565"/>
              <a:ext cx="3457165" cy="7674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61"/>
                </a:lnSpc>
              </a:pPr>
              <a:r>
                <a:rPr lang="en-US" sz="4339" spc="-134">
                  <a:gradFill>
                    <a:gsLst>
                      <a:gs pos="0">
                        <a:srgbClr val="86F8C5">
                          <a:alpha val="100000"/>
                        </a:srgbClr>
                      </a:gs>
                      <a:gs pos="100000">
                        <a:srgbClr val="2076E8">
                          <a:alpha val="100000"/>
                        </a:srgbClr>
                      </a:gs>
                    </a:gsLst>
                    <a:lin ang="5400000"/>
                  </a:gradFill>
                  <a:latin typeface="GoodTime Grotesk"/>
                  <a:ea typeface="GoodTime Grotesk"/>
                  <a:cs typeface="GoodTime Grotesk"/>
                  <a:sym typeface="GoodTime Grotesk"/>
                </a:rPr>
                <a:t>BCDAYES 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19137538" y="0"/>
              <a:ext cx="4284402" cy="1038967"/>
            </a:xfrm>
            <a:custGeom>
              <a:avLst/>
              <a:gdLst/>
              <a:ahLst/>
              <a:cxnLst/>
              <a:rect l="l" t="t" r="r" b="b"/>
              <a:pathLst>
                <a:path w="4284402" h="1038967">
                  <a:moveTo>
                    <a:pt x="0" y="0"/>
                  </a:moveTo>
                  <a:lnTo>
                    <a:pt x="4284402" y="0"/>
                  </a:lnTo>
                  <a:lnTo>
                    <a:pt x="4284402" y="1038967"/>
                  </a:lnTo>
                  <a:lnTo>
                    <a:pt x="0" y="1038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0" r="-39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663338" y="666750"/>
            <a:ext cx="8324850" cy="8591550"/>
            <a:chOff x="0" y="0"/>
            <a:chExt cx="2448748" cy="252719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48751" cy="2527198"/>
            </a:xfrm>
            <a:custGeom>
              <a:avLst/>
              <a:gdLst/>
              <a:ahLst/>
              <a:cxnLst/>
              <a:rect l="l" t="t" r="r" b="b"/>
              <a:pathLst>
                <a:path w="2448751" h="2527198">
                  <a:moveTo>
                    <a:pt x="2101792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2247806"/>
                  </a:lnTo>
                  <a:cubicBezTo>
                    <a:pt x="0" y="2284316"/>
                    <a:pt x="13458" y="2319546"/>
                    <a:pt x="37800" y="2346758"/>
                  </a:cubicBezTo>
                  <a:lnTo>
                    <a:pt x="154967" y="2477734"/>
                  </a:lnTo>
                  <a:cubicBezTo>
                    <a:pt x="183122" y="2509209"/>
                    <a:pt x="223353" y="2527199"/>
                    <a:pt x="265584" y="2527198"/>
                  </a:cubicBezTo>
                  <a:lnTo>
                    <a:pt x="2300335" y="2527198"/>
                  </a:lnTo>
                  <a:cubicBezTo>
                    <a:pt x="2339697" y="2527198"/>
                    <a:pt x="2377447" y="2511562"/>
                    <a:pt x="2405281" y="2483729"/>
                  </a:cubicBezTo>
                  <a:cubicBezTo>
                    <a:pt x="2433114" y="2455896"/>
                    <a:pt x="2448751" y="2418146"/>
                    <a:pt x="2448751" y="2378783"/>
                  </a:cubicBezTo>
                  <a:lnTo>
                    <a:pt x="2448751" y="366141"/>
                  </a:lnTo>
                  <a:cubicBezTo>
                    <a:pt x="2448751" y="329143"/>
                    <a:pt x="2434932" y="293478"/>
                    <a:pt x="2410002" y="266140"/>
                  </a:cubicBezTo>
                  <a:lnTo>
                    <a:pt x="2211459" y="48414"/>
                  </a:lnTo>
                  <a:cubicBezTo>
                    <a:pt x="2183337" y="17574"/>
                    <a:pt x="2143529" y="0"/>
                    <a:pt x="2101792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666750"/>
            <a:ext cx="8324850" cy="8591550"/>
            <a:chOff x="0" y="0"/>
            <a:chExt cx="2192553" cy="226279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2553" cy="2262795"/>
            </a:xfrm>
            <a:custGeom>
              <a:avLst/>
              <a:gdLst/>
              <a:ahLst/>
              <a:cxnLst/>
              <a:rect l="l" t="t" r="r" b="b"/>
              <a:pathLst>
                <a:path w="2192553" h="2262795">
                  <a:moveTo>
                    <a:pt x="51149" y="0"/>
                  </a:moveTo>
                  <a:lnTo>
                    <a:pt x="2141404" y="0"/>
                  </a:lnTo>
                  <a:cubicBezTo>
                    <a:pt x="2154970" y="0"/>
                    <a:pt x="2167980" y="5389"/>
                    <a:pt x="2177572" y="14981"/>
                  </a:cubicBezTo>
                  <a:cubicBezTo>
                    <a:pt x="2187164" y="24573"/>
                    <a:pt x="2192553" y="37583"/>
                    <a:pt x="2192553" y="51149"/>
                  </a:cubicBezTo>
                  <a:lnTo>
                    <a:pt x="2192553" y="2211646"/>
                  </a:lnTo>
                  <a:cubicBezTo>
                    <a:pt x="2192553" y="2225212"/>
                    <a:pt x="2187164" y="2238222"/>
                    <a:pt x="2177572" y="2247814"/>
                  </a:cubicBezTo>
                  <a:cubicBezTo>
                    <a:pt x="2167980" y="2257406"/>
                    <a:pt x="2154970" y="2262795"/>
                    <a:pt x="2141404" y="2262795"/>
                  </a:cubicBezTo>
                  <a:lnTo>
                    <a:pt x="51149" y="2262795"/>
                  </a:lnTo>
                  <a:cubicBezTo>
                    <a:pt x="37583" y="2262795"/>
                    <a:pt x="24573" y="2257406"/>
                    <a:pt x="14981" y="2247814"/>
                  </a:cubicBezTo>
                  <a:cubicBezTo>
                    <a:pt x="5389" y="2238222"/>
                    <a:pt x="0" y="2225212"/>
                    <a:pt x="0" y="2211646"/>
                  </a:cubicBezTo>
                  <a:lnTo>
                    <a:pt x="0" y="51149"/>
                  </a:lnTo>
                  <a:cubicBezTo>
                    <a:pt x="0" y="37583"/>
                    <a:pt x="5389" y="24573"/>
                    <a:pt x="14981" y="14981"/>
                  </a:cubicBezTo>
                  <a:cubicBezTo>
                    <a:pt x="24573" y="5389"/>
                    <a:pt x="37583" y="0"/>
                    <a:pt x="5114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192553" cy="23104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105025" y="1647825"/>
            <a:ext cx="5448300" cy="4129528"/>
            <a:chOff x="0" y="114300"/>
            <a:chExt cx="7264400" cy="3091661"/>
          </a:xfrm>
        </p:grpSpPr>
        <p:sp>
          <p:nvSpPr>
            <p:cNvPr id="12" name="TextBox 12"/>
            <p:cNvSpPr txBox="1"/>
            <p:nvPr/>
          </p:nvSpPr>
          <p:spPr>
            <a:xfrm>
              <a:off x="0" y="114300"/>
              <a:ext cx="7264400" cy="13634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999"/>
                </a:lnSpc>
              </a:pPr>
              <a:r>
                <a:rPr lang="en-US" sz="6999" u="none" strike="noStrike" spc="-384" dirty="0">
                  <a:gradFill>
                    <a:gsLst>
                      <a:gs pos="0">
                        <a:srgbClr val="86F8C5">
                          <a:alpha val="100000"/>
                        </a:srgbClr>
                      </a:gs>
                      <a:gs pos="100000">
                        <a:srgbClr val="2076E8">
                          <a:alpha val="100000"/>
                        </a:srgbClr>
                      </a:gs>
                    </a:gsLst>
                    <a:lin ang="5400000"/>
                  </a:gradFill>
                  <a:latin typeface="GoodTime Grotesk"/>
                  <a:ea typeface="GoodTime Grotesk"/>
                  <a:cs typeface="GoodTime Grotesk"/>
                  <a:sym typeface="GoodTime Grotesk"/>
                </a:rPr>
                <a:t>Fernando Artigas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064" y="1477784"/>
              <a:ext cx="7023436" cy="172817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GB" sz="3000" u="none" strike="noStrike" spc="-165" dirty="0">
                  <a:gradFill>
                    <a:gsLst>
                      <a:gs pos="0">
                        <a:srgbClr val="86F8C5">
                          <a:alpha val="100000"/>
                        </a:srgbClr>
                      </a:gs>
                      <a:gs pos="100000">
                        <a:srgbClr val="2076E8">
                          <a:alpha val="100000"/>
                        </a:srgbClr>
                      </a:gs>
                    </a:gsLst>
                    <a:lin ang="5400000"/>
                  </a:gradFill>
                  <a:latin typeface="GoodTime Grotesk"/>
                  <a:ea typeface="GoodTime Grotesk"/>
                  <a:cs typeface="GoodTime Grotesk"/>
                  <a:sym typeface="GoodTime Grotesk"/>
                </a:rPr>
                <a:t>Business Central Technical Consultant with strong expertise in AL &amp; Power platform Integrations. </a:t>
              </a:r>
            </a:p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endParaRPr lang="en-US" sz="3000" u="none" strike="noStrike" spc="-165" dirty="0">
                <a:gradFill>
                  <a:gsLst>
                    <a:gs pos="0">
                      <a:srgbClr val="86F8C5">
                        <a:alpha val="100000"/>
                      </a:srgbClr>
                    </a:gs>
                    <a:gs pos="100000">
                      <a:srgbClr val="2076E8">
                        <a:alpha val="100000"/>
                      </a:srgbClr>
                    </a:gs>
                  </a:gsLst>
                  <a:lin ang="5400000"/>
                </a:gradFill>
                <a:latin typeface="GoodTime Grotesk"/>
                <a:ea typeface="GoodTime Grotesk"/>
                <a:cs typeface="GoodTime Grotesk"/>
                <a:sym typeface="GoodTime Grotesk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78719" y="9390469"/>
            <a:ext cx="17566455" cy="779226"/>
            <a:chOff x="0" y="0"/>
            <a:chExt cx="23421940" cy="1038967"/>
          </a:xfrm>
        </p:grpSpPr>
        <p:sp>
          <p:nvSpPr>
            <p:cNvPr id="15" name="Freeform 15"/>
            <p:cNvSpPr/>
            <p:nvPr/>
          </p:nvSpPr>
          <p:spPr>
            <a:xfrm>
              <a:off x="0" y="172326"/>
              <a:ext cx="866641" cy="866641"/>
            </a:xfrm>
            <a:custGeom>
              <a:avLst/>
              <a:gdLst/>
              <a:ahLst/>
              <a:cxnLst/>
              <a:rect l="l" t="t" r="r" b="b"/>
              <a:pathLst>
                <a:path w="866641" h="866641">
                  <a:moveTo>
                    <a:pt x="0" y="0"/>
                  </a:moveTo>
                  <a:lnTo>
                    <a:pt x="866641" y="0"/>
                  </a:lnTo>
                  <a:lnTo>
                    <a:pt x="866641" y="866641"/>
                  </a:lnTo>
                  <a:lnTo>
                    <a:pt x="0" y="866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8693" y="271565"/>
              <a:ext cx="3457165" cy="7674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61"/>
                </a:lnSpc>
              </a:pPr>
              <a:r>
                <a:rPr lang="en-US" sz="4339" spc="-134">
                  <a:gradFill>
                    <a:gsLst>
                      <a:gs pos="0">
                        <a:srgbClr val="86F8C5">
                          <a:alpha val="100000"/>
                        </a:srgbClr>
                      </a:gs>
                      <a:gs pos="100000">
                        <a:srgbClr val="2076E8">
                          <a:alpha val="100000"/>
                        </a:srgbClr>
                      </a:gs>
                    </a:gsLst>
                    <a:lin ang="5400000"/>
                  </a:gradFill>
                  <a:latin typeface="GoodTime Grotesk"/>
                  <a:ea typeface="GoodTime Grotesk"/>
                  <a:cs typeface="GoodTime Grotesk"/>
                  <a:sym typeface="GoodTime Grotesk"/>
                </a:rPr>
                <a:t>BCDAYES 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19137538" y="0"/>
              <a:ext cx="4284402" cy="1038967"/>
            </a:xfrm>
            <a:custGeom>
              <a:avLst/>
              <a:gdLst/>
              <a:ahLst/>
              <a:cxnLst/>
              <a:rect l="l" t="t" r="r" b="b"/>
              <a:pathLst>
                <a:path w="4284402" h="1038967">
                  <a:moveTo>
                    <a:pt x="0" y="0"/>
                  </a:moveTo>
                  <a:lnTo>
                    <a:pt x="4284402" y="0"/>
                  </a:lnTo>
                  <a:lnTo>
                    <a:pt x="4284402" y="1038967"/>
                  </a:lnTo>
                  <a:lnTo>
                    <a:pt x="0" y="1038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9" name="Picture 18" descr="A person wearing black t-shirts and black headphones, sitting in a room with a blurred window.&#10;&#10;AI-generated content may be incorrect.">
            <a:extLst>
              <a:ext uri="{FF2B5EF4-FFF2-40B4-BE49-F238E27FC236}">
                <a16:creationId xmlns:a16="http://schemas.microsoft.com/office/drawing/2014/main" id="{DDDCF2FE-76EA-198A-2F81-1DC8A80633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800" y="1146283"/>
            <a:ext cx="7315200" cy="7315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F123BBD-0734-D9A0-739D-09929E3F72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6351927"/>
            <a:ext cx="2362200" cy="244241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FEF5E5E-47E5-113D-BA10-204102A7CC7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248" r="-585" b="195"/>
          <a:stretch>
            <a:fillRect/>
          </a:stretch>
        </p:blipFill>
        <p:spPr>
          <a:xfrm>
            <a:off x="1775965" y="6351927"/>
            <a:ext cx="2447033" cy="244241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2" name="Imagen 2" descr="PL-600: Microsoft Power Platform Solution Architect | Cloud Training">
            <a:extLst>
              <a:ext uri="{FF2B5EF4-FFF2-40B4-BE49-F238E27FC236}">
                <a16:creationId xmlns:a16="http://schemas.microsoft.com/office/drawing/2014/main" id="{F0CCF697-73E9-CE10-C820-DC1469BF65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80489" y="6876459"/>
            <a:ext cx="2390775" cy="2390775"/>
          </a:xfrm>
          <a:prstGeom prst="rect">
            <a:avLst/>
          </a:prstGeom>
        </p:spPr>
      </p:pic>
      <p:pic>
        <p:nvPicPr>
          <p:cNvPr id="23" name="Imagen 3" descr="Un letrero azul con letras blancas&#10;&#10;Descripción generada automáticamente con confianza media">
            <a:extLst>
              <a:ext uri="{FF2B5EF4-FFF2-40B4-BE49-F238E27FC236}">
                <a16:creationId xmlns:a16="http://schemas.microsoft.com/office/drawing/2014/main" id="{3B6D56A7-1D61-1289-4E9C-C7D54CAE219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33064" y="6707709"/>
            <a:ext cx="2616675" cy="26166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0" r="-39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16954500" cy="8591550"/>
            <a:chOff x="0" y="0"/>
            <a:chExt cx="3299803" cy="16721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99803" cy="1672142"/>
            </a:xfrm>
            <a:custGeom>
              <a:avLst/>
              <a:gdLst/>
              <a:ahLst/>
              <a:cxnLst/>
              <a:rect l="l" t="t" r="r" b="b"/>
              <a:pathLst>
                <a:path w="3299803" h="1672142">
                  <a:moveTo>
                    <a:pt x="965120" y="1535832"/>
                  </a:moveTo>
                  <a:cubicBezTo>
                    <a:pt x="983327" y="1515479"/>
                    <a:pt x="1009342" y="1503846"/>
                    <a:pt x="1036650" y="1503846"/>
                  </a:cubicBezTo>
                  <a:lnTo>
                    <a:pt x="3213538" y="1504181"/>
                  </a:lnTo>
                  <a:cubicBezTo>
                    <a:pt x="3236413" y="1504193"/>
                    <a:pt x="3258355" y="1495115"/>
                    <a:pt x="3274534" y="1478945"/>
                  </a:cubicBezTo>
                  <a:cubicBezTo>
                    <a:pt x="3290713" y="1462775"/>
                    <a:pt x="3299803" y="1440838"/>
                    <a:pt x="3299803" y="1417963"/>
                  </a:cubicBezTo>
                  <a:lnTo>
                    <a:pt x="3299803" y="86219"/>
                  </a:lnTo>
                  <a:cubicBezTo>
                    <a:pt x="3299803" y="63352"/>
                    <a:pt x="3290719" y="41422"/>
                    <a:pt x="3274550" y="25253"/>
                  </a:cubicBezTo>
                  <a:cubicBezTo>
                    <a:pt x="3258381" y="9084"/>
                    <a:pt x="3236451" y="0"/>
                    <a:pt x="3213584" y="0"/>
                  </a:cubicBezTo>
                  <a:lnTo>
                    <a:pt x="303022" y="0"/>
                  </a:lnTo>
                  <a:cubicBezTo>
                    <a:pt x="278489" y="-1"/>
                    <a:pt x="255117" y="10450"/>
                    <a:pt x="238760" y="28735"/>
                  </a:cubicBezTo>
                  <a:lnTo>
                    <a:pt x="21960" y="271092"/>
                  </a:lnTo>
                  <a:cubicBezTo>
                    <a:pt x="7818" y="286900"/>
                    <a:pt x="0" y="307366"/>
                    <a:pt x="0" y="328576"/>
                  </a:cubicBezTo>
                  <a:lnTo>
                    <a:pt x="0" y="1585930"/>
                  </a:lnTo>
                  <a:cubicBezTo>
                    <a:pt x="4" y="1633544"/>
                    <a:pt x="38604" y="1672142"/>
                    <a:pt x="86219" y="1672142"/>
                  </a:cubicBezTo>
                  <a:lnTo>
                    <a:pt x="804624" y="1672142"/>
                  </a:lnTo>
                  <a:cubicBezTo>
                    <a:pt x="829157" y="1672143"/>
                    <a:pt x="852529" y="1661692"/>
                    <a:pt x="868886" y="1643407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105025" y="1676400"/>
            <a:ext cx="10067925" cy="1821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999"/>
              </a:lnSpc>
            </a:pPr>
            <a:r>
              <a:rPr lang="en-US" sz="6999" spc="-384" dirty="0">
                <a:gradFill>
                  <a:gsLst>
                    <a:gs pos="0">
                      <a:srgbClr val="86F8C5">
                        <a:alpha val="100000"/>
                      </a:srgbClr>
                    </a:gs>
                    <a:gs pos="100000">
                      <a:srgbClr val="2076E8">
                        <a:alpha val="100000"/>
                      </a:srgbClr>
                    </a:gs>
                  </a:gsLst>
                  <a:lin ang="5400000"/>
                </a:gradFill>
                <a:latin typeface="GoodTime Grotesk"/>
                <a:ea typeface="GoodTime Grotesk"/>
                <a:cs typeface="GoodTime Grotesk"/>
                <a:sym typeface="GoodTime Grotesk"/>
              </a:rPr>
              <a:t>If you love to engage, we have more events for you!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378719" y="9390469"/>
            <a:ext cx="17566455" cy="779226"/>
            <a:chOff x="0" y="0"/>
            <a:chExt cx="23421940" cy="1038967"/>
          </a:xfrm>
        </p:grpSpPr>
        <p:sp>
          <p:nvSpPr>
            <p:cNvPr id="7" name="Freeform 7"/>
            <p:cNvSpPr/>
            <p:nvPr/>
          </p:nvSpPr>
          <p:spPr>
            <a:xfrm>
              <a:off x="0" y="172326"/>
              <a:ext cx="866641" cy="866641"/>
            </a:xfrm>
            <a:custGeom>
              <a:avLst/>
              <a:gdLst/>
              <a:ahLst/>
              <a:cxnLst/>
              <a:rect l="l" t="t" r="r" b="b"/>
              <a:pathLst>
                <a:path w="866641" h="866641">
                  <a:moveTo>
                    <a:pt x="0" y="0"/>
                  </a:moveTo>
                  <a:lnTo>
                    <a:pt x="866641" y="0"/>
                  </a:lnTo>
                  <a:lnTo>
                    <a:pt x="866641" y="866641"/>
                  </a:lnTo>
                  <a:lnTo>
                    <a:pt x="0" y="866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8693" y="271565"/>
              <a:ext cx="3457165" cy="7674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61"/>
                </a:lnSpc>
              </a:pPr>
              <a:r>
                <a:rPr lang="en-US" sz="4339" spc="-134">
                  <a:gradFill>
                    <a:gsLst>
                      <a:gs pos="0">
                        <a:srgbClr val="86F8C5">
                          <a:alpha val="100000"/>
                        </a:srgbClr>
                      </a:gs>
                      <a:gs pos="100000">
                        <a:srgbClr val="2076E8">
                          <a:alpha val="100000"/>
                        </a:srgbClr>
                      </a:gs>
                    </a:gsLst>
                    <a:lin ang="5400000"/>
                  </a:gradFill>
                  <a:latin typeface="GoodTime Grotesk"/>
                  <a:ea typeface="GoodTime Grotesk"/>
                  <a:cs typeface="GoodTime Grotesk"/>
                  <a:sym typeface="GoodTime Grotesk"/>
                </a:rPr>
                <a:t>BCDAYES 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19137538" y="0"/>
              <a:ext cx="4284402" cy="1038967"/>
            </a:xfrm>
            <a:custGeom>
              <a:avLst/>
              <a:gdLst/>
              <a:ahLst/>
              <a:cxnLst/>
              <a:rect l="l" t="t" r="r" b="b"/>
              <a:pathLst>
                <a:path w="4284402" h="1038967">
                  <a:moveTo>
                    <a:pt x="0" y="0"/>
                  </a:moveTo>
                  <a:lnTo>
                    <a:pt x="4284402" y="0"/>
                  </a:lnTo>
                  <a:lnTo>
                    <a:pt x="4284402" y="1038967"/>
                  </a:lnTo>
                  <a:lnTo>
                    <a:pt x="0" y="1038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026" name="Picture 2" descr="Cover Image for GitHub Copilot Dev Days | Valencia">
            <a:extLst>
              <a:ext uri="{FF2B5EF4-FFF2-40B4-BE49-F238E27FC236}">
                <a16:creationId xmlns:a16="http://schemas.microsoft.com/office/drawing/2014/main" id="{2B4DD11F-9440-EB78-9349-824422026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788294"/>
            <a:ext cx="3733800" cy="37338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849528D-B2CB-D103-3E9B-81803E382F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3380444"/>
            <a:ext cx="3512281" cy="3512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834D621-F665-870D-1834-0D73B327D25C}"/>
              </a:ext>
            </a:extLst>
          </p:cNvPr>
          <p:cNvSpPr txBox="1"/>
          <p:nvPr/>
        </p:nvSpPr>
        <p:spPr>
          <a:xfrm>
            <a:off x="7062983" y="6760756"/>
            <a:ext cx="2209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BC 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Waves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Barcelona 6 de junio de 2026</a:t>
            </a:r>
            <a:endParaRPr lang="en-GB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30" name="Picture 6" descr="Non-profit day · Spain logo">
            <a:extLst>
              <a:ext uri="{FF2B5EF4-FFF2-40B4-BE49-F238E27FC236}">
                <a16:creationId xmlns:a16="http://schemas.microsoft.com/office/drawing/2014/main" id="{70140AB9-DB7E-F710-AFE8-CC349D545F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3902" y="3599163"/>
            <a:ext cx="3088674" cy="3088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F6AFAE9-77DD-8799-CFC5-B164AD49C5A3}"/>
              </a:ext>
            </a:extLst>
          </p:cNvPr>
          <p:cNvSpPr txBox="1"/>
          <p:nvPr/>
        </p:nvSpPr>
        <p:spPr>
          <a:xfrm>
            <a:off x="10973339" y="6760755"/>
            <a:ext cx="2209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Non-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profit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day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Spain</a:t>
            </a:r>
            <a:endParaRPr lang="es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GB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diciembre</a:t>
            </a:r>
            <a:r>
              <a:rPr lang="en-GB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</a:p>
        </p:txBody>
      </p:sp>
      <p:pic>
        <p:nvPicPr>
          <p:cNvPr id="15" name="Picture 14" descr="The image shows a curious orange cat sitting on a desk, facing a computer monitor, keyboard, and mouse, with a partially visible document on the desk.&#10;&#10;AI-generated content may be incorrect.">
            <a:extLst>
              <a:ext uri="{FF2B5EF4-FFF2-40B4-BE49-F238E27FC236}">
                <a16:creationId xmlns:a16="http://schemas.microsoft.com/office/drawing/2014/main" id="{FB38B4FA-5F5A-524A-2FB9-1AFB0940C1B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2726" y="993869"/>
            <a:ext cx="4832000" cy="3624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18834-089F-65C7-238B-36D588A34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C88C5B5-1B9D-8F90-7E69-AC0E5BB2368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0" r="-39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D12CC00-4322-6607-AA28-C4AE5FDF1B63}"/>
              </a:ext>
            </a:extLst>
          </p:cNvPr>
          <p:cNvGrpSpPr/>
          <p:nvPr/>
        </p:nvGrpSpPr>
        <p:grpSpPr>
          <a:xfrm>
            <a:off x="666750" y="666750"/>
            <a:ext cx="16954500" cy="8591550"/>
            <a:chOff x="0" y="0"/>
            <a:chExt cx="3299803" cy="167214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8662D01-C0A3-530D-7D73-8D2FFCC50539}"/>
                </a:ext>
              </a:extLst>
            </p:cNvPr>
            <p:cNvSpPr/>
            <p:nvPr/>
          </p:nvSpPr>
          <p:spPr>
            <a:xfrm>
              <a:off x="0" y="0"/>
              <a:ext cx="3299803" cy="1672142"/>
            </a:xfrm>
            <a:custGeom>
              <a:avLst/>
              <a:gdLst/>
              <a:ahLst/>
              <a:cxnLst/>
              <a:rect l="l" t="t" r="r" b="b"/>
              <a:pathLst>
                <a:path w="3299803" h="1672142">
                  <a:moveTo>
                    <a:pt x="965120" y="1535832"/>
                  </a:moveTo>
                  <a:cubicBezTo>
                    <a:pt x="983327" y="1515479"/>
                    <a:pt x="1009342" y="1503846"/>
                    <a:pt x="1036650" y="1503846"/>
                  </a:cubicBezTo>
                  <a:lnTo>
                    <a:pt x="3213538" y="1504181"/>
                  </a:lnTo>
                  <a:cubicBezTo>
                    <a:pt x="3236413" y="1504193"/>
                    <a:pt x="3258355" y="1495115"/>
                    <a:pt x="3274534" y="1478945"/>
                  </a:cubicBezTo>
                  <a:cubicBezTo>
                    <a:pt x="3290713" y="1462775"/>
                    <a:pt x="3299803" y="1440838"/>
                    <a:pt x="3299803" y="1417963"/>
                  </a:cubicBezTo>
                  <a:lnTo>
                    <a:pt x="3299803" y="86219"/>
                  </a:lnTo>
                  <a:cubicBezTo>
                    <a:pt x="3299803" y="63352"/>
                    <a:pt x="3290719" y="41422"/>
                    <a:pt x="3274550" y="25253"/>
                  </a:cubicBezTo>
                  <a:cubicBezTo>
                    <a:pt x="3258381" y="9084"/>
                    <a:pt x="3236451" y="0"/>
                    <a:pt x="3213584" y="0"/>
                  </a:cubicBezTo>
                  <a:lnTo>
                    <a:pt x="303022" y="0"/>
                  </a:lnTo>
                  <a:cubicBezTo>
                    <a:pt x="278489" y="-1"/>
                    <a:pt x="255117" y="10450"/>
                    <a:pt x="238760" y="28735"/>
                  </a:cubicBezTo>
                  <a:lnTo>
                    <a:pt x="21960" y="271092"/>
                  </a:lnTo>
                  <a:cubicBezTo>
                    <a:pt x="7818" y="286900"/>
                    <a:pt x="0" y="307366"/>
                    <a:pt x="0" y="328576"/>
                  </a:cubicBezTo>
                  <a:lnTo>
                    <a:pt x="0" y="1585930"/>
                  </a:lnTo>
                  <a:cubicBezTo>
                    <a:pt x="4" y="1633544"/>
                    <a:pt x="38604" y="1672142"/>
                    <a:pt x="86219" y="1672142"/>
                  </a:cubicBezTo>
                  <a:lnTo>
                    <a:pt x="804624" y="1672142"/>
                  </a:lnTo>
                  <a:cubicBezTo>
                    <a:pt x="829157" y="1672143"/>
                    <a:pt x="852529" y="1661692"/>
                    <a:pt x="868886" y="1643407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7409DD36-D21C-29E3-B07E-B44530B7A54B}"/>
              </a:ext>
            </a:extLst>
          </p:cNvPr>
          <p:cNvSpPr txBox="1"/>
          <p:nvPr/>
        </p:nvSpPr>
        <p:spPr>
          <a:xfrm>
            <a:off x="2537527" y="1052212"/>
            <a:ext cx="13287375" cy="9235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999"/>
              </a:lnSpc>
            </a:pPr>
            <a:r>
              <a:rPr lang="en-US" sz="6999" spc="-384" dirty="0">
                <a:gradFill>
                  <a:gsLst>
                    <a:gs pos="0">
                      <a:srgbClr val="86F8C5">
                        <a:alpha val="100000"/>
                      </a:srgbClr>
                    </a:gs>
                    <a:gs pos="100000">
                      <a:srgbClr val="2076E8">
                        <a:alpha val="100000"/>
                      </a:srgbClr>
                    </a:gs>
                  </a:gsLst>
                  <a:lin ang="5400000"/>
                </a:gradFill>
                <a:latin typeface="GoodTime Grotesk"/>
                <a:ea typeface="GoodTime Grotesk"/>
                <a:cs typeface="GoodTime Grotesk"/>
                <a:sym typeface="GoodTime Grotesk"/>
              </a:rPr>
              <a:t>Who is Fer and why is he here?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E24F26BC-2FEF-B44E-B114-D635DCF039E1}"/>
              </a:ext>
            </a:extLst>
          </p:cNvPr>
          <p:cNvGrpSpPr/>
          <p:nvPr/>
        </p:nvGrpSpPr>
        <p:grpSpPr>
          <a:xfrm>
            <a:off x="378719" y="9390469"/>
            <a:ext cx="17566455" cy="779226"/>
            <a:chOff x="0" y="0"/>
            <a:chExt cx="23421940" cy="10389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886EEFF-586F-36D0-89BE-73C14799C485}"/>
                </a:ext>
              </a:extLst>
            </p:cNvPr>
            <p:cNvSpPr/>
            <p:nvPr/>
          </p:nvSpPr>
          <p:spPr>
            <a:xfrm>
              <a:off x="0" y="172326"/>
              <a:ext cx="866641" cy="866641"/>
            </a:xfrm>
            <a:custGeom>
              <a:avLst/>
              <a:gdLst/>
              <a:ahLst/>
              <a:cxnLst/>
              <a:rect l="l" t="t" r="r" b="b"/>
              <a:pathLst>
                <a:path w="866641" h="866641">
                  <a:moveTo>
                    <a:pt x="0" y="0"/>
                  </a:moveTo>
                  <a:lnTo>
                    <a:pt x="866641" y="0"/>
                  </a:lnTo>
                  <a:lnTo>
                    <a:pt x="866641" y="866641"/>
                  </a:lnTo>
                  <a:lnTo>
                    <a:pt x="0" y="866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426EF21-469A-68D0-A9AA-CCFFAE2C6B79}"/>
                </a:ext>
              </a:extLst>
            </p:cNvPr>
            <p:cNvSpPr txBox="1"/>
            <p:nvPr/>
          </p:nvSpPr>
          <p:spPr>
            <a:xfrm>
              <a:off x="1138693" y="271565"/>
              <a:ext cx="3457165" cy="7674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61"/>
                </a:lnSpc>
              </a:pPr>
              <a:r>
                <a:rPr lang="en-US" sz="4339" spc="-134">
                  <a:gradFill>
                    <a:gsLst>
                      <a:gs pos="0">
                        <a:srgbClr val="86F8C5">
                          <a:alpha val="100000"/>
                        </a:srgbClr>
                      </a:gs>
                      <a:gs pos="100000">
                        <a:srgbClr val="2076E8">
                          <a:alpha val="100000"/>
                        </a:srgbClr>
                      </a:gs>
                    </a:gsLst>
                    <a:lin ang="5400000"/>
                  </a:gradFill>
                  <a:latin typeface="GoodTime Grotesk"/>
                  <a:ea typeface="GoodTime Grotesk"/>
                  <a:cs typeface="GoodTime Grotesk"/>
                  <a:sym typeface="GoodTime Grotesk"/>
                </a:rPr>
                <a:t>BCDAYES </a:t>
              </a:r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623E88F9-8748-2EAB-7AA4-ABB183957B6C}"/>
                </a:ext>
              </a:extLst>
            </p:cNvPr>
            <p:cNvSpPr/>
            <p:nvPr/>
          </p:nvSpPr>
          <p:spPr>
            <a:xfrm>
              <a:off x="19137538" y="0"/>
              <a:ext cx="4284402" cy="1038967"/>
            </a:xfrm>
            <a:custGeom>
              <a:avLst/>
              <a:gdLst/>
              <a:ahLst/>
              <a:cxnLst/>
              <a:rect l="l" t="t" r="r" b="b"/>
              <a:pathLst>
                <a:path w="4284402" h="1038967">
                  <a:moveTo>
                    <a:pt x="0" y="0"/>
                  </a:moveTo>
                  <a:lnTo>
                    <a:pt x="4284402" y="0"/>
                  </a:lnTo>
                  <a:lnTo>
                    <a:pt x="4284402" y="1038967"/>
                  </a:lnTo>
                  <a:lnTo>
                    <a:pt x="0" y="1038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1" name="Picture 10" descr="The image depicts a stylized, three-dimensional crystal-like object with a blue color scheme, showcasing a geometric, shiny appearance.&#10;&#10;AI-generated content may be incorrect.">
            <a:extLst>
              <a:ext uri="{FF2B5EF4-FFF2-40B4-BE49-F238E27FC236}">
                <a16:creationId xmlns:a16="http://schemas.microsoft.com/office/drawing/2014/main" id="{ED58E88A-101D-3655-F183-E50F1E8EB59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63725" y="723900"/>
            <a:ext cx="2705100" cy="2705100"/>
          </a:xfrm>
          <a:prstGeom prst="rect">
            <a:avLst/>
          </a:prstGeom>
        </p:spPr>
      </p:pic>
      <p:sp>
        <p:nvSpPr>
          <p:cNvPr id="12" name="TextBox 5">
            <a:extLst>
              <a:ext uri="{FF2B5EF4-FFF2-40B4-BE49-F238E27FC236}">
                <a16:creationId xmlns:a16="http://schemas.microsoft.com/office/drawing/2014/main" id="{557F10B3-39B1-1C6F-9E4C-5B1BBC99FE49}"/>
              </a:ext>
            </a:extLst>
          </p:cNvPr>
          <p:cNvSpPr txBox="1"/>
          <p:nvPr/>
        </p:nvSpPr>
        <p:spPr>
          <a:xfrm>
            <a:off x="1642519" y="2099213"/>
            <a:ext cx="16150144" cy="7207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57250" indent="-857250">
              <a:lnSpc>
                <a:spcPts val="6999"/>
              </a:lnSpc>
              <a:buFontTx/>
              <a:buChar char="-"/>
            </a:pPr>
            <a:r>
              <a:rPr lang="en-US" sz="6600" spc="-384" dirty="0">
                <a:gradFill>
                  <a:gsLst>
                    <a:gs pos="0">
                      <a:srgbClr val="86F8C5">
                        <a:alpha val="100000"/>
                      </a:srgbClr>
                    </a:gs>
                    <a:gs pos="100000">
                      <a:srgbClr val="2076E8">
                        <a:alpha val="100000"/>
                      </a:srgbClr>
                    </a:gs>
                  </a:gsLst>
                  <a:lin ang="5400000"/>
                </a:gradFill>
                <a:latin typeface="GoodTime Grotesk"/>
                <a:ea typeface="GoodTime Grotesk"/>
                <a:cs typeface="GoodTime Grotesk"/>
                <a:sym typeface="GoodTime Grotesk"/>
              </a:rPr>
              <a:t>He loves the BC Community </a:t>
            </a:r>
          </a:p>
          <a:p>
            <a:pPr>
              <a:lnSpc>
                <a:spcPts val="6999"/>
              </a:lnSpc>
            </a:pPr>
            <a:r>
              <a:rPr lang="en-US" sz="6600" spc="-384" dirty="0">
                <a:gradFill>
                  <a:gsLst>
                    <a:gs pos="0">
                      <a:srgbClr val="86F8C5">
                        <a:alpha val="100000"/>
                      </a:srgbClr>
                    </a:gs>
                    <a:gs pos="100000">
                      <a:srgbClr val="2076E8">
                        <a:alpha val="100000"/>
                      </a:srgbClr>
                    </a:gs>
                  </a:gsLst>
                  <a:lin ang="5400000"/>
                </a:gradFill>
                <a:latin typeface="GoodTime Grotesk"/>
                <a:ea typeface="GoodTime Grotesk"/>
                <a:cs typeface="GoodTime Grotesk"/>
                <a:sym typeface="GoodTime Grotesk"/>
              </a:rPr>
              <a:t>     (and hates AI Hype)</a:t>
            </a:r>
          </a:p>
          <a:p>
            <a:pPr marL="857250" indent="-857250">
              <a:lnSpc>
                <a:spcPts val="6999"/>
              </a:lnSpc>
              <a:buFontTx/>
              <a:buChar char="-"/>
            </a:pPr>
            <a:endParaRPr lang="en-US" sz="6600" spc="-384" dirty="0">
              <a:gradFill>
                <a:gsLst>
                  <a:gs pos="0">
                    <a:srgbClr val="86F8C5">
                      <a:alpha val="100000"/>
                    </a:srgbClr>
                  </a:gs>
                  <a:gs pos="100000">
                    <a:srgbClr val="2076E8">
                      <a:alpha val="100000"/>
                    </a:srgbClr>
                  </a:gs>
                </a:gsLst>
                <a:lin ang="5400000"/>
              </a:gradFill>
              <a:latin typeface="GoodTime Grotesk"/>
              <a:ea typeface="GoodTime Grotesk"/>
              <a:cs typeface="GoodTime Grotesk"/>
              <a:sym typeface="GoodTime Grotesk"/>
            </a:endParaRPr>
          </a:p>
          <a:p>
            <a:pPr marL="857250" lvl="0" indent="-857250" algn="l">
              <a:lnSpc>
                <a:spcPts val="6999"/>
              </a:lnSpc>
              <a:buFontTx/>
              <a:buChar char="-"/>
            </a:pPr>
            <a:r>
              <a:rPr lang="en-US" sz="6600" spc="-384" dirty="0">
                <a:gradFill>
                  <a:gsLst>
                    <a:gs pos="0">
                      <a:srgbClr val="86F8C5">
                        <a:alpha val="100000"/>
                      </a:srgbClr>
                    </a:gs>
                    <a:gs pos="100000">
                      <a:srgbClr val="2076E8">
                        <a:alpha val="100000"/>
                      </a:srgbClr>
                    </a:gs>
                  </a:gsLst>
                  <a:lin ang="5400000"/>
                </a:gradFill>
                <a:latin typeface="GoodTime Grotesk"/>
                <a:ea typeface="GoodTime Grotesk"/>
                <a:cs typeface="GoodTime Grotesk"/>
                <a:sym typeface="GoodTime Grotesk"/>
              </a:rPr>
              <a:t>He has an interesting project to share with you (not just Dataverse Synch.)</a:t>
            </a:r>
          </a:p>
          <a:p>
            <a:pPr marL="857250" lvl="0" indent="-857250" algn="l">
              <a:lnSpc>
                <a:spcPts val="6999"/>
              </a:lnSpc>
              <a:buFontTx/>
              <a:buChar char="-"/>
            </a:pPr>
            <a:endParaRPr lang="en-US" sz="6600" spc="-384" dirty="0">
              <a:gradFill>
                <a:gsLst>
                  <a:gs pos="0">
                    <a:srgbClr val="86F8C5">
                      <a:alpha val="100000"/>
                    </a:srgbClr>
                  </a:gs>
                  <a:gs pos="100000">
                    <a:srgbClr val="2076E8">
                      <a:alpha val="100000"/>
                    </a:srgbClr>
                  </a:gs>
                </a:gsLst>
                <a:lin ang="5400000"/>
              </a:gradFill>
              <a:latin typeface="GoodTime Grotesk"/>
              <a:ea typeface="GoodTime Grotesk"/>
              <a:cs typeface="GoodTime Grotesk"/>
              <a:sym typeface="GoodTime Grotesk"/>
            </a:endParaRPr>
          </a:p>
          <a:p>
            <a:pPr marL="857250" indent="-857250">
              <a:lnSpc>
                <a:spcPts val="6999"/>
              </a:lnSpc>
              <a:buFontTx/>
              <a:buChar char="-"/>
            </a:pPr>
            <a:r>
              <a:rPr lang="en-US" sz="6600" spc="-384" dirty="0">
                <a:gradFill>
                  <a:gsLst>
                    <a:gs pos="0">
                      <a:srgbClr val="86F8C5">
                        <a:alpha val="100000"/>
                      </a:srgbClr>
                    </a:gs>
                    <a:gs pos="100000">
                      <a:srgbClr val="2076E8">
                        <a:alpha val="100000"/>
                      </a:srgbClr>
                    </a:gs>
                  </a:gsLst>
                  <a:lin ang="5400000"/>
                </a:gradFill>
                <a:latin typeface="GoodTime Grotesk"/>
                <a:ea typeface="GoodTime Grotesk"/>
                <a:cs typeface="GoodTime Grotesk"/>
                <a:sym typeface="GoodTime Grotesk"/>
              </a:rPr>
              <a:t>He has a cool gift for you (not just stickers)</a:t>
            </a:r>
          </a:p>
          <a:p>
            <a:pPr marL="0" lvl="0" indent="0" algn="l">
              <a:lnSpc>
                <a:spcPts val="6999"/>
              </a:lnSpc>
            </a:pPr>
            <a:endParaRPr lang="en-US" sz="6999" spc="-384" dirty="0">
              <a:gradFill>
                <a:gsLst>
                  <a:gs pos="0">
                    <a:srgbClr val="86F8C5">
                      <a:alpha val="100000"/>
                    </a:srgbClr>
                  </a:gs>
                  <a:gs pos="100000">
                    <a:srgbClr val="2076E8">
                      <a:alpha val="100000"/>
                    </a:srgbClr>
                  </a:gs>
                </a:gsLst>
                <a:lin ang="5400000"/>
              </a:gradFill>
              <a:latin typeface="GoodTime Grotesk"/>
              <a:ea typeface="GoodTime Grotesk"/>
              <a:cs typeface="GoodTime Grotesk"/>
              <a:sym typeface="GoodTime Grotesk"/>
            </a:endParaRPr>
          </a:p>
        </p:txBody>
      </p:sp>
    </p:spTree>
    <p:extLst>
      <p:ext uri="{BB962C8B-B14F-4D97-AF65-F5344CB8AC3E}">
        <p14:creationId xmlns:p14="http://schemas.microsoft.com/office/powerpoint/2010/main" val="3252734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D6E5E-86D1-D608-4598-D29D014F1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B94A3CA-EEEF-9E23-5766-5290FDBBA23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0" r="-39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656AF9D-01FC-7396-3F6E-7530C82864CA}"/>
              </a:ext>
            </a:extLst>
          </p:cNvPr>
          <p:cNvGrpSpPr/>
          <p:nvPr/>
        </p:nvGrpSpPr>
        <p:grpSpPr>
          <a:xfrm>
            <a:off x="666750" y="666750"/>
            <a:ext cx="16954500" cy="8591550"/>
            <a:chOff x="0" y="0"/>
            <a:chExt cx="3299803" cy="167214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9268A08-597F-F920-4A64-D2FB64E20DA9}"/>
                </a:ext>
              </a:extLst>
            </p:cNvPr>
            <p:cNvSpPr/>
            <p:nvPr/>
          </p:nvSpPr>
          <p:spPr>
            <a:xfrm>
              <a:off x="0" y="0"/>
              <a:ext cx="3299803" cy="1672142"/>
            </a:xfrm>
            <a:custGeom>
              <a:avLst/>
              <a:gdLst/>
              <a:ahLst/>
              <a:cxnLst/>
              <a:rect l="l" t="t" r="r" b="b"/>
              <a:pathLst>
                <a:path w="3299803" h="1672142">
                  <a:moveTo>
                    <a:pt x="965120" y="1535832"/>
                  </a:moveTo>
                  <a:cubicBezTo>
                    <a:pt x="983327" y="1515479"/>
                    <a:pt x="1009342" y="1503846"/>
                    <a:pt x="1036650" y="1503846"/>
                  </a:cubicBezTo>
                  <a:lnTo>
                    <a:pt x="3213538" y="1504181"/>
                  </a:lnTo>
                  <a:cubicBezTo>
                    <a:pt x="3236413" y="1504193"/>
                    <a:pt x="3258355" y="1495115"/>
                    <a:pt x="3274534" y="1478945"/>
                  </a:cubicBezTo>
                  <a:cubicBezTo>
                    <a:pt x="3290713" y="1462775"/>
                    <a:pt x="3299803" y="1440838"/>
                    <a:pt x="3299803" y="1417963"/>
                  </a:cubicBezTo>
                  <a:lnTo>
                    <a:pt x="3299803" y="86219"/>
                  </a:lnTo>
                  <a:cubicBezTo>
                    <a:pt x="3299803" y="63352"/>
                    <a:pt x="3290719" y="41422"/>
                    <a:pt x="3274550" y="25253"/>
                  </a:cubicBezTo>
                  <a:cubicBezTo>
                    <a:pt x="3258381" y="9084"/>
                    <a:pt x="3236451" y="0"/>
                    <a:pt x="3213584" y="0"/>
                  </a:cubicBezTo>
                  <a:lnTo>
                    <a:pt x="303022" y="0"/>
                  </a:lnTo>
                  <a:cubicBezTo>
                    <a:pt x="278489" y="-1"/>
                    <a:pt x="255117" y="10450"/>
                    <a:pt x="238760" y="28735"/>
                  </a:cubicBezTo>
                  <a:lnTo>
                    <a:pt x="21960" y="271092"/>
                  </a:lnTo>
                  <a:cubicBezTo>
                    <a:pt x="7818" y="286900"/>
                    <a:pt x="0" y="307366"/>
                    <a:pt x="0" y="328576"/>
                  </a:cubicBezTo>
                  <a:lnTo>
                    <a:pt x="0" y="1585930"/>
                  </a:lnTo>
                  <a:cubicBezTo>
                    <a:pt x="4" y="1633544"/>
                    <a:pt x="38604" y="1672142"/>
                    <a:pt x="86219" y="1672142"/>
                  </a:cubicBezTo>
                  <a:lnTo>
                    <a:pt x="804624" y="1672142"/>
                  </a:lnTo>
                  <a:cubicBezTo>
                    <a:pt x="829157" y="1672143"/>
                    <a:pt x="852529" y="1661692"/>
                    <a:pt x="868886" y="1643407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EACADE76-8F7D-B46C-34A9-61659098F52F}"/>
              </a:ext>
            </a:extLst>
          </p:cNvPr>
          <p:cNvSpPr txBox="1"/>
          <p:nvPr/>
        </p:nvSpPr>
        <p:spPr>
          <a:xfrm>
            <a:off x="3200400" y="1052212"/>
            <a:ext cx="12624502" cy="10546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143000" lvl="0" indent="-1143000">
              <a:lnSpc>
                <a:spcPts val="3600"/>
              </a:lnSpc>
              <a:spcBef>
                <a:spcPct val="0"/>
              </a:spcBef>
              <a:buFont typeface="+mj-lt"/>
              <a:buAutoNum type="arabicPeriod"/>
            </a:pPr>
            <a:endParaRPr lang="en-US" sz="7200" spc="-165" dirty="0">
              <a:gradFill>
                <a:gsLst>
                  <a:gs pos="0">
                    <a:srgbClr val="86F8C5">
                      <a:alpha val="100000"/>
                    </a:srgbClr>
                  </a:gs>
                  <a:gs pos="100000">
                    <a:srgbClr val="2076E8">
                      <a:alpha val="100000"/>
                    </a:srgbClr>
                  </a:gs>
                </a:gsLst>
                <a:lin ang="5400000"/>
              </a:gradFill>
              <a:latin typeface="GoodTime Grotesk"/>
              <a:ea typeface="GoodTime Grotesk"/>
              <a:cs typeface="GoodTime Grotesk"/>
              <a:sym typeface="GoodTime Grotesk"/>
            </a:endParaRPr>
          </a:p>
          <a:p>
            <a:pPr lvl="0">
              <a:lnSpc>
                <a:spcPts val="3600"/>
              </a:lnSpc>
              <a:spcBef>
                <a:spcPct val="0"/>
              </a:spcBef>
            </a:pPr>
            <a:r>
              <a:rPr lang="en-US" sz="7200" spc="-165" dirty="0">
                <a:gradFill>
                  <a:gsLst>
                    <a:gs pos="0">
                      <a:srgbClr val="86F8C5">
                        <a:alpha val="100000"/>
                      </a:srgbClr>
                    </a:gs>
                    <a:gs pos="100000">
                      <a:srgbClr val="2076E8">
                        <a:alpha val="100000"/>
                      </a:srgbClr>
                    </a:gs>
                  </a:gsLst>
                  <a:lin ang="5400000"/>
                </a:gradFill>
                <a:latin typeface="GoodTime Grotesk"/>
                <a:ea typeface="GoodTime Grotesk"/>
                <a:cs typeface="GoodTime Grotesk"/>
                <a:sym typeface="GoodTime Grotesk"/>
              </a:rPr>
              <a:t>A HYPE World!🔥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B27686FE-ECAF-27EB-ED53-32ACD1F316C2}"/>
              </a:ext>
            </a:extLst>
          </p:cNvPr>
          <p:cNvGrpSpPr/>
          <p:nvPr/>
        </p:nvGrpSpPr>
        <p:grpSpPr>
          <a:xfrm>
            <a:off x="378719" y="9390469"/>
            <a:ext cx="17566455" cy="779226"/>
            <a:chOff x="0" y="0"/>
            <a:chExt cx="23421940" cy="10389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25995F5-EDE2-E0AA-14B3-12018E8CC72D}"/>
                </a:ext>
              </a:extLst>
            </p:cNvPr>
            <p:cNvSpPr/>
            <p:nvPr/>
          </p:nvSpPr>
          <p:spPr>
            <a:xfrm>
              <a:off x="0" y="172326"/>
              <a:ext cx="866641" cy="866641"/>
            </a:xfrm>
            <a:custGeom>
              <a:avLst/>
              <a:gdLst/>
              <a:ahLst/>
              <a:cxnLst/>
              <a:rect l="l" t="t" r="r" b="b"/>
              <a:pathLst>
                <a:path w="866641" h="866641">
                  <a:moveTo>
                    <a:pt x="0" y="0"/>
                  </a:moveTo>
                  <a:lnTo>
                    <a:pt x="866641" y="0"/>
                  </a:lnTo>
                  <a:lnTo>
                    <a:pt x="866641" y="866641"/>
                  </a:lnTo>
                  <a:lnTo>
                    <a:pt x="0" y="866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48A92C8-4684-5279-47FD-C74F5B0A9CA1}"/>
                </a:ext>
              </a:extLst>
            </p:cNvPr>
            <p:cNvSpPr txBox="1"/>
            <p:nvPr/>
          </p:nvSpPr>
          <p:spPr>
            <a:xfrm>
              <a:off x="1138693" y="271565"/>
              <a:ext cx="3457165" cy="7674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61"/>
                </a:lnSpc>
              </a:pPr>
              <a:r>
                <a:rPr lang="en-US" sz="4339" spc="-134">
                  <a:gradFill>
                    <a:gsLst>
                      <a:gs pos="0">
                        <a:srgbClr val="86F8C5">
                          <a:alpha val="100000"/>
                        </a:srgbClr>
                      </a:gs>
                      <a:gs pos="100000">
                        <a:srgbClr val="2076E8">
                          <a:alpha val="100000"/>
                        </a:srgbClr>
                      </a:gs>
                    </a:gsLst>
                    <a:lin ang="5400000"/>
                  </a:gradFill>
                  <a:latin typeface="GoodTime Grotesk"/>
                  <a:ea typeface="GoodTime Grotesk"/>
                  <a:cs typeface="GoodTime Grotesk"/>
                  <a:sym typeface="GoodTime Grotesk"/>
                </a:rPr>
                <a:t>BCDAYES </a:t>
              </a:r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CA92E1FE-840D-1B60-F925-AFE3D9FFB364}"/>
                </a:ext>
              </a:extLst>
            </p:cNvPr>
            <p:cNvSpPr/>
            <p:nvPr/>
          </p:nvSpPr>
          <p:spPr>
            <a:xfrm>
              <a:off x="19137538" y="0"/>
              <a:ext cx="4284402" cy="1038967"/>
            </a:xfrm>
            <a:custGeom>
              <a:avLst/>
              <a:gdLst/>
              <a:ahLst/>
              <a:cxnLst/>
              <a:rect l="l" t="t" r="r" b="b"/>
              <a:pathLst>
                <a:path w="4284402" h="1038967">
                  <a:moveTo>
                    <a:pt x="0" y="0"/>
                  </a:moveTo>
                  <a:lnTo>
                    <a:pt x="4284402" y="0"/>
                  </a:lnTo>
                  <a:lnTo>
                    <a:pt x="4284402" y="1038967"/>
                  </a:lnTo>
                  <a:lnTo>
                    <a:pt x="0" y="1038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054" name="Picture 6" descr="How People Are Actually Using Agentic AI · ProgrammerHumor.io">
            <a:extLst>
              <a:ext uri="{FF2B5EF4-FFF2-40B4-BE49-F238E27FC236}">
                <a16:creationId xmlns:a16="http://schemas.microsoft.com/office/drawing/2014/main" id="{49E429E6-C2AB-1247-B13B-91256163E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106860"/>
            <a:ext cx="4995098" cy="603885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2056" name="Picture 8" descr="Queen Irenea">
            <a:extLst>
              <a:ext uri="{FF2B5EF4-FFF2-40B4-BE49-F238E27FC236}">
                <a16:creationId xmlns:a16="http://schemas.microsoft.com/office/drawing/2014/main" id="{54F4EA11-AF0A-86B8-A7E8-5AE8E72896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0" r="3750"/>
          <a:stretch>
            <a:fillRect/>
          </a:stretch>
        </p:blipFill>
        <p:spPr bwMode="auto">
          <a:xfrm>
            <a:off x="3526648" y="5896744"/>
            <a:ext cx="3923965" cy="3361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What is ‘vibe coding’? AI-assisted programming sparks memes ...">
            <a:extLst>
              <a:ext uri="{FF2B5EF4-FFF2-40B4-BE49-F238E27FC236}">
                <a16:creationId xmlns:a16="http://schemas.microsoft.com/office/drawing/2014/main" id="{05CDBC1D-1FF5-A731-4372-F13098A831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01769" y="5969733"/>
            <a:ext cx="4800600" cy="24003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0" name="Picture 22" descr="legaltech #ai | Richard Tromans">
            <a:extLst>
              <a:ext uri="{FF2B5EF4-FFF2-40B4-BE49-F238E27FC236}">
                <a16:creationId xmlns:a16="http://schemas.microsoft.com/office/drawing/2014/main" id="{E65945E4-7889-D8DD-68CF-2E6B7B1C65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2079" y="6503740"/>
            <a:ext cx="5344463" cy="291941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The image depicts a SaaS platform emphasizing its robustness, extensive testing, and user-centric design, showcasing its comprehensive dashboard and streamlined process optimization.&#10;&#10;AI-generated content may be incorrect.">
            <a:extLst>
              <a:ext uri="{FF2B5EF4-FFF2-40B4-BE49-F238E27FC236}">
                <a16:creationId xmlns:a16="http://schemas.microsoft.com/office/drawing/2014/main" id="{EF379056-34A6-5E42-194A-E92D01021B8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6400" y="177368"/>
            <a:ext cx="3177003" cy="476550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2062" name="Picture 14" descr="Chain Chomp - Wikipedia">
            <a:extLst>
              <a:ext uri="{FF2B5EF4-FFF2-40B4-BE49-F238E27FC236}">
                <a16:creationId xmlns:a16="http://schemas.microsoft.com/office/drawing/2014/main" id="{733C5118-AC28-6F27-0F41-C5E570610D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87400" y="3976997"/>
            <a:ext cx="2143125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Meme Jackie Chan - me tienes la cabeza como un bombo - 16193743">
            <a:extLst>
              <a:ext uri="{FF2B5EF4-FFF2-40B4-BE49-F238E27FC236}">
                <a16:creationId xmlns:a16="http://schemas.microsoft.com/office/drawing/2014/main" id="{02270330-80C0-39B8-3177-20AA045E9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9025" y="2400300"/>
            <a:ext cx="3810000" cy="3810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Can a 4 year old vibecode an app? Welcome to day 2 of the vibe coding  school #vibecode #vibecoding #appdeveloper">
            <a:extLst>
              <a:ext uri="{FF2B5EF4-FFF2-40B4-BE49-F238E27FC236}">
                <a16:creationId xmlns:a16="http://schemas.microsoft.com/office/drawing/2014/main" id="{C1F94206-CE61-E04D-D74B-013AA1A927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0117" y="3362325"/>
            <a:ext cx="1600200" cy="28479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6 Books Every Vibe Coder Needs #vibecoding #memes #techmemes #zeroday  #programming #programmingmemes #cybersecurity #hacking #infosec #aihumor  #hacktheplanet #codingmemes #coding #books #techbooks #ethicalhacking">
            <a:extLst>
              <a:ext uri="{FF2B5EF4-FFF2-40B4-BE49-F238E27FC236}">
                <a16:creationId xmlns:a16="http://schemas.microsoft.com/office/drawing/2014/main" id="{48A2AE99-C8E0-C16C-800B-20C455EFB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4234" y="1417214"/>
            <a:ext cx="1600200" cy="1600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08671DA-D3BA-B282-5A04-F15C4626EA1B}"/>
              </a:ext>
            </a:extLst>
          </p:cNvPr>
          <p:cNvSpPr txBox="1"/>
          <p:nvPr/>
        </p:nvSpPr>
        <p:spPr>
          <a:xfrm>
            <a:off x="838200" y="2476896"/>
            <a:ext cx="5014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        </a:t>
            </a:r>
            <a:r>
              <a:rPr lang="en-GB" b="1" dirty="0"/>
              <a:t>5               4                 3                  2                1</a:t>
            </a:r>
          </a:p>
        </p:txBody>
      </p:sp>
    </p:spTree>
    <p:extLst>
      <p:ext uri="{BB962C8B-B14F-4D97-AF65-F5344CB8AC3E}">
        <p14:creationId xmlns:p14="http://schemas.microsoft.com/office/powerpoint/2010/main" val="4173120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49B3A-A293-9BB8-A5FF-210913C63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82E11BD-5D41-9F5D-6C2F-3A4DB3A0ECF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0" r="-39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B859D8C-A826-56D3-5E7E-7A6C3236AAFC}"/>
              </a:ext>
            </a:extLst>
          </p:cNvPr>
          <p:cNvGrpSpPr/>
          <p:nvPr/>
        </p:nvGrpSpPr>
        <p:grpSpPr>
          <a:xfrm>
            <a:off x="666750" y="666750"/>
            <a:ext cx="16954500" cy="8591550"/>
            <a:chOff x="0" y="0"/>
            <a:chExt cx="3299803" cy="167214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394BDFD-BBD9-D549-5FE1-DC40F4832F77}"/>
                </a:ext>
              </a:extLst>
            </p:cNvPr>
            <p:cNvSpPr/>
            <p:nvPr/>
          </p:nvSpPr>
          <p:spPr>
            <a:xfrm>
              <a:off x="0" y="0"/>
              <a:ext cx="3299803" cy="1672142"/>
            </a:xfrm>
            <a:custGeom>
              <a:avLst/>
              <a:gdLst/>
              <a:ahLst/>
              <a:cxnLst/>
              <a:rect l="l" t="t" r="r" b="b"/>
              <a:pathLst>
                <a:path w="3299803" h="1672142">
                  <a:moveTo>
                    <a:pt x="965120" y="1535832"/>
                  </a:moveTo>
                  <a:cubicBezTo>
                    <a:pt x="983327" y="1515479"/>
                    <a:pt x="1009342" y="1503846"/>
                    <a:pt x="1036650" y="1503846"/>
                  </a:cubicBezTo>
                  <a:lnTo>
                    <a:pt x="3213538" y="1504181"/>
                  </a:lnTo>
                  <a:cubicBezTo>
                    <a:pt x="3236413" y="1504193"/>
                    <a:pt x="3258355" y="1495115"/>
                    <a:pt x="3274534" y="1478945"/>
                  </a:cubicBezTo>
                  <a:cubicBezTo>
                    <a:pt x="3290713" y="1462775"/>
                    <a:pt x="3299803" y="1440838"/>
                    <a:pt x="3299803" y="1417963"/>
                  </a:cubicBezTo>
                  <a:lnTo>
                    <a:pt x="3299803" y="86219"/>
                  </a:lnTo>
                  <a:cubicBezTo>
                    <a:pt x="3299803" y="63352"/>
                    <a:pt x="3290719" y="41422"/>
                    <a:pt x="3274550" y="25253"/>
                  </a:cubicBezTo>
                  <a:cubicBezTo>
                    <a:pt x="3258381" y="9084"/>
                    <a:pt x="3236451" y="0"/>
                    <a:pt x="3213584" y="0"/>
                  </a:cubicBezTo>
                  <a:lnTo>
                    <a:pt x="303022" y="0"/>
                  </a:lnTo>
                  <a:cubicBezTo>
                    <a:pt x="278489" y="-1"/>
                    <a:pt x="255117" y="10450"/>
                    <a:pt x="238760" y="28735"/>
                  </a:cubicBezTo>
                  <a:lnTo>
                    <a:pt x="21960" y="271092"/>
                  </a:lnTo>
                  <a:cubicBezTo>
                    <a:pt x="7818" y="286900"/>
                    <a:pt x="0" y="307366"/>
                    <a:pt x="0" y="328576"/>
                  </a:cubicBezTo>
                  <a:lnTo>
                    <a:pt x="0" y="1585930"/>
                  </a:lnTo>
                  <a:cubicBezTo>
                    <a:pt x="4" y="1633544"/>
                    <a:pt x="38604" y="1672142"/>
                    <a:pt x="86219" y="1672142"/>
                  </a:cubicBezTo>
                  <a:lnTo>
                    <a:pt x="804624" y="1672142"/>
                  </a:lnTo>
                  <a:cubicBezTo>
                    <a:pt x="829157" y="1672143"/>
                    <a:pt x="852529" y="1661692"/>
                    <a:pt x="868886" y="1643407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089C2B62-BED0-FB08-867F-C80190744EE0}"/>
              </a:ext>
            </a:extLst>
          </p:cNvPr>
          <p:cNvSpPr txBox="1"/>
          <p:nvPr/>
        </p:nvSpPr>
        <p:spPr>
          <a:xfrm>
            <a:off x="3200400" y="1052212"/>
            <a:ext cx="12624502" cy="592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>
              <a:lnSpc>
                <a:spcPts val="3600"/>
              </a:lnSpc>
              <a:spcBef>
                <a:spcPct val="0"/>
              </a:spcBef>
            </a:pPr>
            <a:r>
              <a:rPr lang="en-US" sz="4400" spc="-165" dirty="0">
                <a:gradFill>
                  <a:gsLst>
                    <a:gs pos="0">
                      <a:srgbClr val="86F8C5">
                        <a:alpha val="100000"/>
                      </a:srgbClr>
                    </a:gs>
                    <a:gs pos="100000">
                      <a:srgbClr val="2076E8">
                        <a:alpha val="100000"/>
                      </a:srgbClr>
                    </a:gs>
                  </a:gsLst>
                  <a:lin ang="5400000"/>
                </a:gradFill>
                <a:latin typeface="GoodTime Grotesk"/>
                <a:ea typeface="GoodTime Grotesk"/>
                <a:cs typeface="GoodTime Grotesk"/>
                <a:sym typeface="GoodTime Grotesk"/>
              </a:rPr>
              <a:t>Vibe Coding VS Spec Driven Development</a:t>
            </a:r>
            <a:r>
              <a:rPr lang="en-US" sz="7200" spc="-165" dirty="0">
                <a:gradFill>
                  <a:gsLst>
                    <a:gs pos="0">
                      <a:srgbClr val="86F8C5">
                        <a:alpha val="100000"/>
                      </a:srgbClr>
                    </a:gs>
                    <a:gs pos="100000">
                      <a:srgbClr val="2076E8">
                        <a:alpha val="100000"/>
                      </a:srgbClr>
                    </a:gs>
                  </a:gsLst>
                  <a:lin ang="5400000"/>
                </a:gradFill>
                <a:latin typeface="GoodTime Grotesk"/>
                <a:ea typeface="GoodTime Grotesk"/>
                <a:cs typeface="GoodTime Grotesk"/>
                <a:sym typeface="GoodTime Grotesk"/>
              </a:rPr>
              <a:t>🛠️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6D0F6F8C-0703-3F06-8B02-7B85AEA23B4C}"/>
              </a:ext>
            </a:extLst>
          </p:cNvPr>
          <p:cNvGrpSpPr/>
          <p:nvPr/>
        </p:nvGrpSpPr>
        <p:grpSpPr>
          <a:xfrm>
            <a:off x="378719" y="9390469"/>
            <a:ext cx="17566455" cy="779226"/>
            <a:chOff x="0" y="0"/>
            <a:chExt cx="23421940" cy="10389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6FDE40C-69F8-5CB6-BBA3-D5F2CFC05229}"/>
                </a:ext>
              </a:extLst>
            </p:cNvPr>
            <p:cNvSpPr/>
            <p:nvPr/>
          </p:nvSpPr>
          <p:spPr>
            <a:xfrm>
              <a:off x="0" y="172326"/>
              <a:ext cx="866641" cy="866641"/>
            </a:xfrm>
            <a:custGeom>
              <a:avLst/>
              <a:gdLst/>
              <a:ahLst/>
              <a:cxnLst/>
              <a:rect l="l" t="t" r="r" b="b"/>
              <a:pathLst>
                <a:path w="866641" h="866641">
                  <a:moveTo>
                    <a:pt x="0" y="0"/>
                  </a:moveTo>
                  <a:lnTo>
                    <a:pt x="866641" y="0"/>
                  </a:lnTo>
                  <a:lnTo>
                    <a:pt x="866641" y="866641"/>
                  </a:lnTo>
                  <a:lnTo>
                    <a:pt x="0" y="866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6C6F50B-9E81-1D32-1E6E-23F6A86B7CFC}"/>
                </a:ext>
              </a:extLst>
            </p:cNvPr>
            <p:cNvSpPr txBox="1"/>
            <p:nvPr/>
          </p:nvSpPr>
          <p:spPr>
            <a:xfrm>
              <a:off x="1138693" y="271565"/>
              <a:ext cx="3457165" cy="7674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61"/>
                </a:lnSpc>
              </a:pPr>
              <a:r>
                <a:rPr lang="en-US" sz="4339" spc="-134">
                  <a:gradFill>
                    <a:gsLst>
                      <a:gs pos="0">
                        <a:srgbClr val="86F8C5">
                          <a:alpha val="100000"/>
                        </a:srgbClr>
                      </a:gs>
                      <a:gs pos="100000">
                        <a:srgbClr val="2076E8">
                          <a:alpha val="100000"/>
                        </a:srgbClr>
                      </a:gs>
                    </a:gsLst>
                    <a:lin ang="5400000"/>
                  </a:gradFill>
                  <a:latin typeface="GoodTime Grotesk"/>
                  <a:ea typeface="GoodTime Grotesk"/>
                  <a:cs typeface="GoodTime Grotesk"/>
                  <a:sym typeface="GoodTime Grotesk"/>
                </a:rPr>
                <a:t>BCDAYES </a:t>
              </a:r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5033B2C1-3832-6C1C-EBE0-82C7C18008FB}"/>
                </a:ext>
              </a:extLst>
            </p:cNvPr>
            <p:cNvSpPr/>
            <p:nvPr/>
          </p:nvSpPr>
          <p:spPr>
            <a:xfrm>
              <a:off x="19137538" y="0"/>
              <a:ext cx="4284402" cy="1038967"/>
            </a:xfrm>
            <a:custGeom>
              <a:avLst/>
              <a:gdLst/>
              <a:ahLst/>
              <a:cxnLst/>
              <a:rect l="l" t="t" r="r" b="b"/>
              <a:pathLst>
                <a:path w="4284402" h="1038967">
                  <a:moveTo>
                    <a:pt x="0" y="0"/>
                  </a:moveTo>
                  <a:lnTo>
                    <a:pt x="4284402" y="0"/>
                  </a:lnTo>
                  <a:lnTo>
                    <a:pt x="4284402" y="1038967"/>
                  </a:lnTo>
                  <a:lnTo>
                    <a:pt x="0" y="1038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2" name="Imagen 9">
            <a:extLst>
              <a:ext uri="{FF2B5EF4-FFF2-40B4-BE49-F238E27FC236}">
                <a16:creationId xmlns:a16="http://schemas.microsoft.com/office/drawing/2014/main" id="{6F211BE3-CC19-F88C-5B72-4ACC59B7A7B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739" y="2404755"/>
            <a:ext cx="6060989" cy="404065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18" name="Imagen 6">
            <a:extLst>
              <a:ext uri="{FF2B5EF4-FFF2-40B4-BE49-F238E27FC236}">
                <a16:creationId xmlns:a16="http://schemas.microsoft.com/office/drawing/2014/main" id="{09609DCD-7F41-96EA-1FED-DA576850BE5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0397" y="2347107"/>
            <a:ext cx="6229784" cy="415318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9" name="Imagen 4">
            <a:extLst>
              <a:ext uri="{FF2B5EF4-FFF2-40B4-BE49-F238E27FC236}">
                <a16:creationId xmlns:a16="http://schemas.microsoft.com/office/drawing/2014/main" id="{D57E6871-D99F-78B2-A0F8-CE4EADDC438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03" y="6627965"/>
            <a:ext cx="5085958" cy="277415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99311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6A301-894E-3E3B-026A-027B3D375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EF7851C-5BE6-E926-A0B1-8DB760A5F93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0" r="-39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BC10E6D-731C-1DAE-38AC-3C3A72E01E14}"/>
              </a:ext>
            </a:extLst>
          </p:cNvPr>
          <p:cNvGrpSpPr/>
          <p:nvPr/>
        </p:nvGrpSpPr>
        <p:grpSpPr>
          <a:xfrm>
            <a:off x="666750" y="666750"/>
            <a:ext cx="16954500" cy="8591550"/>
            <a:chOff x="0" y="0"/>
            <a:chExt cx="3299803" cy="167214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D66CC68-23F1-9D3A-2A07-F393A08B67E5}"/>
                </a:ext>
              </a:extLst>
            </p:cNvPr>
            <p:cNvSpPr/>
            <p:nvPr/>
          </p:nvSpPr>
          <p:spPr>
            <a:xfrm>
              <a:off x="0" y="0"/>
              <a:ext cx="3299803" cy="1672142"/>
            </a:xfrm>
            <a:custGeom>
              <a:avLst/>
              <a:gdLst/>
              <a:ahLst/>
              <a:cxnLst/>
              <a:rect l="l" t="t" r="r" b="b"/>
              <a:pathLst>
                <a:path w="3299803" h="1672142">
                  <a:moveTo>
                    <a:pt x="965120" y="1535832"/>
                  </a:moveTo>
                  <a:cubicBezTo>
                    <a:pt x="983327" y="1515479"/>
                    <a:pt x="1009342" y="1503846"/>
                    <a:pt x="1036650" y="1503846"/>
                  </a:cubicBezTo>
                  <a:lnTo>
                    <a:pt x="3213538" y="1504181"/>
                  </a:lnTo>
                  <a:cubicBezTo>
                    <a:pt x="3236413" y="1504193"/>
                    <a:pt x="3258355" y="1495115"/>
                    <a:pt x="3274534" y="1478945"/>
                  </a:cubicBezTo>
                  <a:cubicBezTo>
                    <a:pt x="3290713" y="1462775"/>
                    <a:pt x="3299803" y="1440838"/>
                    <a:pt x="3299803" y="1417963"/>
                  </a:cubicBezTo>
                  <a:lnTo>
                    <a:pt x="3299803" y="86219"/>
                  </a:lnTo>
                  <a:cubicBezTo>
                    <a:pt x="3299803" y="63352"/>
                    <a:pt x="3290719" y="41422"/>
                    <a:pt x="3274550" y="25253"/>
                  </a:cubicBezTo>
                  <a:cubicBezTo>
                    <a:pt x="3258381" y="9084"/>
                    <a:pt x="3236451" y="0"/>
                    <a:pt x="3213584" y="0"/>
                  </a:cubicBezTo>
                  <a:lnTo>
                    <a:pt x="303022" y="0"/>
                  </a:lnTo>
                  <a:cubicBezTo>
                    <a:pt x="278489" y="-1"/>
                    <a:pt x="255117" y="10450"/>
                    <a:pt x="238760" y="28735"/>
                  </a:cubicBezTo>
                  <a:lnTo>
                    <a:pt x="21960" y="271092"/>
                  </a:lnTo>
                  <a:cubicBezTo>
                    <a:pt x="7818" y="286900"/>
                    <a:pt x="0" y="307366"/>
                    <a:pt x="0" y="328576"/>
                  </a:cubicBezTo>
                  <a:lnTo>
                    <a:pt x="0" y="1585930"/>
                  </a:lnTo>
                  <a:cubicBezTo>
                    <a:pt x="4" y="1633544"/>
                    <a:pt x="38604" y="1672142"/>
                    <a:pt x="86219" y="1672142"/>
                  </a:cubicBezTo>
                  <a:lnTo>
                    <a:pt x="804624" y="1672142"/>
                  </a:lnTo>
                  <a:cubicBezTo>
                    <a:pt x="829157" y="1672143"/>
                    <a:pt x="852529" y="1661692"/>
                    <a:pt x="868886" y="1643407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F98FC888-68D4-3724-CD82-3073FA5CC470}"/>
              </a:ext>
            </a:extLst>
          </p:cNvPr>
          <p:cNvSpPr txBox="1"/>
          <p:nvPr/>
        </p:nvSpPr>
        <p:spPr>
          <a:xfrm>
            <a:off x="3200400" y="1052212"/>
            <a:ext cx="12624502" cy="10546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600"/>
              </a:lnSpc>
              <a:spcBef>
                <a:spcPct val="0"/>
              </a:spcBef>
            </a:pPr>
            <a:endParaRPr lang="en-US" sz="7200" spc="-165" dirty="0">
              <a:gradFill>
                <a:gsLst>
                  <a:gs pos="0">
                    <a:srgbClr val="86F8C5">
                      <a:alpha val="100000"/>
                    </a:srgbClr>
                  </a:gs>
                  <a:gs pos="100000">
                    <a:srgbClr val="2076E8">
                      <a:alpha val="100000"/>
                    </a:srgbClr>
                  </a:gs>
                </a:gsLst>
                <a:lin ang="5400000"/>
              </a:gradFill>
              <a:latin typeface="GoodTime Grotesk"/>
              <a:ea typeface="GoodTime Grotesk"/>
              <a:cs typeface="GoodTime Grotesk"/>
              <a:sym typeface="GoodTime Grotesk"/>
            </a:endParaRPr>
          </a:p>
          <a:p>
            <a:pPr lvl="0">
              <a:lnSpc>
                <a:spcPts val="3600"/>
              </a:lnSpc>
              <a:spcBef>
                <a:spcPct val="0"/>
              </a:spcBef>
            </a:pPr>
            <a:r>
              <a:rPr lang="en-US" sz="7200" spc="-165" dirty="0">
                <a:gradFill>
                  <a:gsLst>
                    <a:gs pos="0">
                      <a:srgbClr val="86F8C5">
                        <a:alpha val="100000"/>
                      </a:srgbClr>
                    </a:gs>
                    <a:gs pos="100000">
                      <a:srgbClr val="2076E8">
                        <a:alpha val="100000"/>
                      </a:srgbClr>
                    </a:gs>
                  </a:gsLst>
                  <a:lin ang="5400000"/>
                </a:gradFill>
                <a:latin typeface="GoodTime Grotesk"/>
                <a:ea typeface="GoodTime Grotesk"/>
                <a:cs typeface="GoodTime Grotesk"/>
                <a:sym typeface="GoodTime Grotesk"/>
              </a:rPr>
              <a:t>The age of frameworks 🛠️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39E8F437-76CF-DB87-C40F-FFD28E066422}"/>
              </a:ext>
            </a:extLst>
          </p:cNvPr>
          <p:cNvGrpSpPr/>
          <p:nvPr/>
        </p:nvGrpSpPr>
        <p:grpSpPr>
          <a:xfrm>
            <a:off x="378719" y="9390469"/>
            <a:ext cx="17566455" cy="779226"/>
            <a:chOff x="0" y="0"/>
            <a:chExt cx="23421940" cy="10389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7A10EDE-BBB9-DFCC-868B-A84465396910}"/>
                </a:ext>
              </a:extLst>
            </p:cNvPr>
            <p:cNvSpPr/>
            <p:nvPr/>
          </p:nvSpPr>
          <p:spPr>
            <a:xfrm>
              <a:off x="0" y="172326"/>
              <a:ext cx="866641" cy="866641"/>
            </a:xfrm>
            <a:custGeom>
              <a:avLst/>
              <a:gdLst/>
              <a:ahLst/>
              <a:cxnLst/>
              <a:rect l="l" t="t" r="r" b="b"/>
              <a:pathLst>
                <a:path w="866641" h="866641">
                  <a:moveTo>
                    <a:pt x="0" y="0"/>
                  </a:moveTo>
                  <a:lnTo>
                    <a:pt x="866641" y="0"/>
                  </a:lnTo>
                  <a:lnTo>
                    <a:pt x="866641" y="866641"/>
                  </a:lnTo>
                  <a:lnTo>
                    <a:pt x="0" y="866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5605723-1735-1181-1925-1697C1A61EE1}"/>
                </a:ext>
              </a:extLst>
            </p:cNvPr>
            <p:cNvSpPr txBox="1"/>
            <p:nvPr/>
          </p:nvSpPr>
          <p:spPr>
            <a:xfrm>
              <a:off x="1138693" y="271565"/>
              <a:ext cx="3457165" cy="7674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61"/>
                </a:lnSpc>
              </a:pPr>
              <a:r>
                <a:rPr lang="en-US" sz="4339" spc="-134">
                  <a:gradFill>
                    <a:gsLst>
                      <a:gs pos="0">
                        <a:srgbClr val="86F8C5">
                          <a:alpha val="100000"/>
                        </a:srgbClr>
                      </a:gs>
                      <a:gs pos="100000">
                        <a:srgbClr val="2076E8">
                          <a:alpha val="100000"/>
                        </a:srgbClr>
                      </a:gs>
                    </a:gsLst>
                    <a:lin ang="5400000"/>
                  </a:gradFill>
                  <a:latin typeface="GoodTime Grotesk"/>
                  <a:ea typeface="GoodTime Grotesk"/>
                  <a:cs typeface="GoodTime Grotesk"/>
                  <a:sym typeface="GoodTime Grotesk"/>
                </a:rPr>
                <a:t>BCDAYES </a:t>
              </a:r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931F6AAF-6376-60CF-E0AD-A15F629C2478}"/>
                </a:ext>
              </a:extLst>
            </p:cNvPr>
            <p:cNvSpPr/>
            <p:nvPr/>
          </p:nvSpPr>
          <p:spPr>
            <a:xfrm>
              <a:off x="19137538" y="0"/>
              <a:ext cx="4284402" cy="1038967"/>
            </a:xfrm>
            <a:custGeom>
              <a:avLst/>
              <a:gdLst/>
              <a:ahLst/>
              <a:cxnLst/>
              <a:rect l="l" t="t" r="r" b="b"/>
              <a:pathLst>
                <a:path w="4284402" h="1038967">
                  <a:moveTo>
                    <a:pt x="0" y="0"/>
                  </a:moveTo>
                  <a:lnTo>
                    <a:pt x="4284402" y="0"/>
                  </a:lnTo>
                  <a:lnTo>
                    <a:pt x="4284402" y="1038967"/>
                  </a:lnTo>
                  <a:lnTo>
                    <a:pt x="0" y="1038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074" name="Picture 2" descr="GitHub Spec Kit Experiment: 'A Lot of Questions' -- Visual Studio Magazine">
            <a:extLst>
              <a:ext uri="{FF2B5EF4-FFF2-40B4-BE49-F238E27FC236}">
                <a16:creationId xmlns:a16="http://schemas.microsoft.com/office/drawing/2014/main" id="{5735E14B-A4CA-82B1-E3F2-AC3ABC0AD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2081596"/>
            <a:ext cx="4226719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25 Facts About Kiro - Facts.net">
            <a:extLst>
              <a:ext uri="{FF2B5EF4-FFF2-40B4-BE49-F238E27FC236}">
                <a16:creationId xmlns:a16="http://schemas.microsoft.com/office/drawing/2014/main" id="{394BD359-4589-7254-5730-A888A7829F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4557774"/>
            <a:ext cx="3028227" cy="171095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Imagen 11">
            <a:extLst>
              <a:ext uri="{FF2B5EF4-FFF2-40B4-BE49-F238E27FC236}">
                <a16:creationId xmlns:a16="http://schemas.microsoft.com/office/drawing/2014/main" id="{3A65E46C-645F-6B53-F678-4A359A09AFC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516" y="3973140"/>
            <a:ext cx="2685535" cy="2685535"/>
          </a:xfrm>
          <a:prstGeom prst="rect">
            <a:avLst/>
          </a:prstGeom>
        </p:spPr>
      </p:pic>
      <p:pic>
        <p:nvPicPr>
          <p:cNvPr id="17" name="Picture 4" descr="OpenSpec for Copilot">
            <a:extLst>
              <a:ext uri="{FF2B5EF4-FFF2-40B4-BE49-F238E27FC236}">
                <a16:creationId xmlns:a16="http://schemas.microsoft.com/office/drawing/2014/main" id="{504C615C-9EAA-2D14-C99C-F7D2D4157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4715" y="4392217"/>
            <a:ext cx="2042066" cy="2042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C900692A-FD30-F43E-041C-2C09E72EA3B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277450" y="890981"/>
            <a:ext cx="2061074" cy="1377109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1EE161F4-2766-8B3C-6A41-EDD5BA21CFD0}"/>
              </a:ext>
            </a:extLst>
          </p:cNvPr>
          <p:cNvSpPr/>
          <p:nvPr/>
        </p:nvSpPr>
        <p:spPr>
          <a:xfrm>
            <a:off x="9144000" y="5219700"/>
            <a:ext cx="1600200" cy="38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65FB9AD3-4196-A4E3-8F2B-9A0293BADC91}"/>
              </a:ext>
            </a:extLst>
          </p:cNvPr>
          <p:cNvSpPr/>
          <p:nvPr/>
        </p:nvSpPr>
        <p:spPr>
          <a:xfrm>
            <a:off x="13034374" y="5252031"/>
            <a:ext cx="1600200" cy="38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122" name="Picture 2" descr="AL Development Collection">
            <a:extLst>
              <a:ext uri="{FF2B5EF4-FFF2-40B4-BE49-F238E27FC236}">
                <a16:creationId xmlns:a16="http://schemas.microsoft.com/office/drawing/2014/main" id="{EDAB04DE-B272-4A51-224D-9000DDC7F2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9372" y="4392217"/>
            <a:ext cx="2042065" cy="2042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The image depicts a stylized, three-dimensional crystal-like object with a blue color scheme, showcasing a geometric, shiny appearance.&#10;&#10;AI-generated content may be incorrect.">
            <a:extLst>
              <a:ext uri="{FF2B5EF4-FFF2-40B4-BE49-F238E27FC236}">
                <a16:creationId xmlns:a16="http://schemas.microsoft.com/office/drawing/2014/main" id="{82CB7DBF-264A-5768-8B75-F38C46E96A9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3869" y="4294874"/>
            <a:ext cx="2042065" cy="2042065"/>
          </a:xfrm>
          <a:prstGeom prst="rect">
            <a:avLst/>
          </a:prstGeom>
        </p:spPr>
      </p:pic>
      <p:pic>
        <p:nvPicPr>
          <p:cNvPr id="22" name="Picture 21" descr="AACSC&#10;&#10;AI-generated content may be incorrect.">
            <a:extLst>
              <a:ext uri="{FF2B5EF4-FFF2-40B4-BE49-F238E27FC236}">
                <a16:creationId xmlns:a16="http://schemas.microsoft.com/office/drawing/2014/main" id="{E3D9418B-E861-4BC4-4DC2-03048924FE2B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0527" y="3839486"/>
            <a:ext cx="3141428" cy="3141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677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DB2B7-9B48-A716-D84C-DBBBD292B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D20BBF1-262D-34FF-C1DC-50338584A26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0" r="-39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3CFD5AE-F225-781B-9053-9B160D195D3E}"/>
              </a:ext>
            </a:extLst>
          </p:cNvPr>
          <p:cNvGrpSpPr/>
          <p:nvPr/>
        </p:nvGrpSpPr>
        <p:grpSpPr>
          <a:xfrm>
            <a:off x="702088" y="681614"/>
            <a:ext cx="16954500" cy="8591550"/>
            <a:chOff x="0" y="0"/>
            <a:chExt cx="3299803" cy="167214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F8123A4-F515-8A04-AE26-2DC00F7A58B1}"/>
                </a:ext>
              </a:extLst>
            </p:cNvPr>
            <p:cNvSpPr/>
            <p:nvPr/>
          </p:nvSpPr>
          <p:spPr>
            <a:xfrm>
              <a:off x="0" y="0"/>
              <a:ext cx="3299803" cy="1672142"/>
            </a:xfrm>
            <a:custGeom>
              <a:avLst/>
              <a:gdLst/>
              <a:ahLst/>
              <a:cxnLst/>
              <a:rect l="l" t="t" r="r" b="b"/>
              <a:pathLst>
                <a:path w="3299803" h="1672142">
                  <a:moveTo>
                    <a:pt x="965120" y="1535832"/>
                  </a:moveTo>
                  <a:cubicBezTo>
                    <a:pt x="983327" y="1515479"/>
                    <a:pt x="1009342" y="1503846"/>
                    <a:pt x="1036650" y="1503846"/>
                  </a:cubicBezTo>
                  <a:lnTo>
                    <a:pt x="3213538" y="1504181"/>
                  </a:lnTo>
                  <a:cubicBezTo>
                    <a:pt x="3236413" y="1504193"/>
                    <a:pt x="3258355" y="1495115"/>
                    <a:pt x="3274534" y="1478945"/>
                  </a:cubicBezTo>
                  <a:cubicBezTo>
                    <a:pt x="3290713" y="1462775"/>
                    <a:pt x="3299803" y="1440838"/>
                    <a:pt x="3299803" y="1417963"/>
                  </a:cubicBezTo>
                  <a:lnTo>
                    <a:pt x="3299803" y="86219"/>
                  </a:lnTo>
                  <a:cubicBezTo>
                    <a:pt x="3299803" y="63352"/>
                    <a:pt x="3290719" y="41422"/>
                    <a:pt x="3274550" y="25253"/>
                  </a:cubicBezTo>
                  <a:cubicBezTo>
                    <a:pt x="3258381" y="9084"/>
                    <a:pt x="3236451" y="0"/>
                    <a:pt x="3213584" y="0"/>
                  </a:cubicBezTo>
                  <a:lnTo>
                    <a:pt x="303022" y="0"/>
                  </a:lnTo>
                  <a:cubicBezTo>
                    <a:pt x="278489" y="-1"/>
                    <a:pt x="255117" y="10450"/>
                    <a:pt x="238760" y="28735"/>
                  </a:cubicBezTo>
                  <a:lnTo>
                    <a:pt x="21960" y="271092"/>
                  </a:lnTo>
                  <a:cubicBezTo>
                    <a:pt x="7818" y="286900"/>
                    <a:pt x="0" y="307366"/>
                    <a:pt x="0" y="328576"/>
                  </a:cubicBezTo>
                  <a:lnTo>
                    <a:pt x="0" y="1585930"/>
                  </a:lnTo>
                  <a:cubicBezTo>
                    <a:pt x="4" y="1633544"/>
                    <a:pt x="38604" y="1672142"/>
                    <a:pt x="86219" y="1672142"/>
                  </a:cubicBezTo>
                  <a:lnTo>
                    <a:pt x="804624" y="1672142"/>
                  </a:lnTo>
                  <a:cubicBezTo>
                    <a:pt x="829157" y="1672143"/>
                    <a:pt x="852529" y="1661692"/>
                    <a:pt x="868886" y="1643407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64911BA8-9F58-F4C1-71E8-413E46A3C7D2}"/>
              </a:ext>
            </a:extLst>
          </p:cNvPr>
          <p:cNvGrpSpPr/>
          <p:nvPr/>
        </p:nvGrpSpPr>
        <p:grpSpPr>
          <a:xfrm>
            <a:off x="378719" y="9390469"/>
            <a:ext cx="17566455" cy="779226"/>
            <a:chOff x="0" y="0"/>
            <a:chExt cx="23421940" cy="10389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127F27F-1F0D-7B5A-5A44-3A6EB3588409}"/>
                </a:ext>
              </a:extLst>
            </p:cNvPr>
            <p:cNvSpPr/>
            <p:nvPr/>
          </p:nvSpPr>
          <p:spPr>
            <a:xfrm>
              <a:off x="0" y="172326"/>
              <a:ext cx="866641" cy="866641"/>
            </a:xfrm>
            <a:custGeom>
              <a:avLst/>
              <a:gdLst/>
              <a:ahLst/>
              <a:cxnLst/>
              <a:rect l="l" t="t" r="r" b="b"/>
              <a:pathLst>
                <a:path w="866641" h="866641">
                  <a:moveTo>
                    <a:pt x="0" y="0"/>
                  </a:moveTo>
                  <a:lnTo>
                    <a:pt x="866641" y="0"/>
                  </a:lnTo>
                  <a:lnTo>
                    <a:pt x="866641" y="866641"/>
                  </a:lnTo>
                  <a:lnTo>
                    <a:pt x="0" y="866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706E6D2A-37AF-9E3A-2DF2-1D1306B7E683}"/>
                </a:ext>
              </a:extLst>
            </p:cNvPr>
            <p:cNvSpPr txBox="1"/>
            <p:nvPr/>
          </p:nvSpPr>
          <p:spPr>
            <a:xfrm>
              <a:off x="1138693" y="271565"/>
              <a:ext cx="3457165" cy="7674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61"/>
                </a:lnSpc>
              </a:pPr>
              <a:r>
                <a:rPr lang="en-US" sz="4339" spc="-134">
                  <a:gradFill>
                    <a:gsLst>
                      <a:gs pos="0">
                        <a:srgbClr val="86F8C5">
                          <a:alpha val="100000"/>
                        </a:srgbClr>
                      </a:gs>
                      <a:gs pos="100000">
                        <a:srgbClr val="2076E8">
                          <a:alpha val="100000"/>
                        </a:srgbClr>
                      </a:gs>
                    </a:gsLst>
                    <a:lin ang="5400000"/>
                  </a:gradFill>
                  <a:latin typeface="GoodTime Grotesk"/>
                  <a:ea typeface="GoodTime Grotesk"/>
                  <a:cs typeface="GoodTime Grotesk"/>
                  <a:sym typeface="GoodTime Grotesk"/>
                </a:rPr>
                <a:t>BCDAYES </a:t>
              </a:r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59CA26B2-51B4-F2BD-50E8-B49581CED7B7}"/>
                </a:ext>
              </a:extLst>
            </p:cNvPr>
            <p:cNvSpPr/>
            <p:nvPr/>
          </p:nvSpPr>
          <p:spPr>
            <a:xfrm>
              <a:off x="19137538" y="0"/>
              <a:ext cx="4284402" cy="1038967"/>
            </a:xfrm>
            <a:custGeom>
              <a:avLst/>
              <a:gdLst/>
              <a:ahLst/>
              <a:cxnLst/>
              <a:rect l="l" t="t" r="r" b="b"/>
              <a:pathLst>
                <a:path w="4284402" h="1038967">
                  <a:moveTo>
                    <a:pt x="0" y="0"/>
                  </a:moveTo>
                  <a:lnTo>
                    <a:pt x="4284402" y="0"/>
                  </a:lnTo>
                  <a:lnTo>
                    <a:pt x="4284402" y="1038967"/>
                  </a:lnTo>
                  <a:lnTo>
                    <a:pt x="0" y="1038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0" name="Picture 19" descr="The image depicts a stylized, three-dimensional crystal-like object with a blue color scheme, showcasing a geometric, shiny appearance.&#10;&#10;AI-generated content may be incorrect.">
            <a:extLst>
              <a:ext uri="{FF2B5EF4-FFF2-40B4-BE49-F238E27FC236}">
                <a16:creationId xmlns:a16="http://schemas.microsoft.com/office/drawing/2014/main" id="{9220FC40-F357-5A07-9652-88D7542E0B7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2957" y="2455627"/>
            <a:ext cx="4272934" cy="4272934"/>
          </a:xfrm>
          <a:prstGeom prst="rect">
            <a:avLst/>
          </a:prstGeom>
        </p:spPr>
      </p:pic>
      <p:pic>
        <p:nvPicPr>
          <p:cNvPr id="19" name="Picture 18" descr="SKILLS COLLECTION&#10;&#10;AI-generated content may be incorrect.">
            <a:extLst>
              <a:ext uri="{FF2B5EF4-FFF2-40B4-BE49-F238E27FC236}">
                <a16:creationId xmlns:a16="http://schemas.microsoft.com/office/drawing/2014/main" id="{D1FC1E78-7A98-6241-44C8-B928D6D2601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7713" y="2247900"/>
            <a:ext cx="9754961" cy="4324954"/>
          </a:xfrm>
          <a:prstGeom prst="rect">
            <a:avLst/>
          </a:prstGeom>
        </p:spPr>
      </p:pic>
      <p:pic>
        <p:nvPicPr>
          <p:cNvPr id="21" name="Picture 20" descr="The image depicts a stylized, three-dimensional crystal-like object with a blue color scheme, showcasing a geometric, shiny appearance.&#10;&#10;AI-generated content may be incorrect.">
            <a:extLst>
              <a:ext uri="{FF2B5EF4-FFF2-40B4-BE49-F238E27FC236}">
                <a16:creationId xmlns:a16="http://schemas.microsoft.com/office/drawing/2014/main" id="{958EAEE0-5EBD-6B70-6BA6-7707723CA75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146" y="2442396"/>
            <a:ext cx="4272934" cy="4272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444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24DA7-F105-7B67-88C8-86A6FD207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D03AC5D-F792-51BC-68CF-BBDA6931729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0" r="-39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3665CBD-C016-8B2C-E285-8864E3818B50}"/>
              </a:ext>
            </a:extLst>
          </p:cNvPr>
          <p:cNvGrpSpPr/>
          <p:nvPr/>
        </p:nvGrpSpPr>
        <p:grpSpPr>
          <a:xfrm>
            <a:off x="708847" y="675940"/>
            <a:ext cx="16954500" cy="8591550"/>
            <a:chOff x="0" y="0"/>
            <a:chExt cx="3299803" cy="167214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AFF2D60-B5DB-068E-C684-9038637C3795}"/>
                </a:ext>
              </a:extLst>
            </p:cNvPr>
            <p:cNvSpPr/>
            <p:nvPr/>
          </p:nvSpPr>
          <p:spPr>
            <a:xfrm>
              <a:off x="0" y="0"/>
              <a:ext cx="3299803" cy="1672142"/>
            </a:xfrm>
            <a:custGeom>
              <a:avLst/>
              <a:gdLst/>
              <a:ahLst/>
              <a:cxnLst/>
              <a:rect l="l" t="t" r="r" b="b"/>
              <a:pathLst>
                <a:path w="3299803" h="1672142">
                  <a:moveTo>
                    <a:pt x="965120" y="1535832"/>
                  </a:moveTo>
                  <a:cubicBezTo>
                    <a:pt x="983327" y="1515479"/>
                    <a:pt x="1009342" y="1503846"/>
                    <a:pt x="1036650" y="1503846"/>
                  </a:cubicBezTo>
                  <a:lnTo>
                    <a:pt x="3213538" y="1504181"/>
                  </a:lnTo>
                  <a:cubicBezTo>
                    <a:pt x="3236413" y="1504193"/>
                    <a:pt x="3258355" y="1495115"/>
                    <a:pt x="3274534" y="1478945"/>
                  </a:cubicBezTo>
                  <a:cubicBezTo>
                    <a:pt x="3290713" y="1462775"/>
                    <a:pt x="3299803" y="1440838"/>
                    <a:pt x="3299803" y="1417963"/>
                  </a:cubicBezTo>
                  <a:lnTo>
                    <a:pt x="3299803" y="86219"/>
                  </a:lnTo>
                  <a:cubicBezTo>
                    <a:pt x="3299803" y="63352"/>
                    <a:pt x="3290719" y="41422"/>
                    <a:pt x="3274550" y="25253"/>
                  </a:cubicBezTo>
                  <a:cubicBezTo>
                    <a:pt x="3258381" y="9084"/>
                    <a:pt x="3236451" y="0"/>
                    <a:pt x="3213584" y="0"/>
                  </a:cubicBezTo>
                  <a:lnTo>
                    <a:pt x="303022" y="0"/>
                  </a:lnTo>
                  <a:cubicBezTo>
                    <a:pt x="278489" y="-1"/>
                    <a:pt x="255117" y="10450"/>
                    <a:pt x="238760" y="28735"/>
                  </a:cubicBezTo>
                  <a:lnTo>
                    <a:pt x="21960" y="271092"/>
                  </a:lnTo>
                  <a:cubicBezTo>
                    <a:pt x="7818" y="286900"/>
                    <a:pt x="0" y="307366"/>
                    <a:pt x="0" y="328576"/>
                  </a:cubicBezTo>
                  <a:lnTo>
                    <a:pt x="0" y="1585930"/>
                  </a:lnTo>
                  <a:cubicBezTo>
                    <a:pt x="4" y="1633544"/>
                    <a:pt x="38604" y="1672142"/>
                    <a:pt x="86219" y="1672142"/>
                  </a:cubicBezTo>
                  <a:lnTo>
                    <a:pt x="804624" y="1672142"/>
                  </a:lnTo>
                  <a:cubicBezTo>
                    <a:pt x="829157" y="1672143"/>
                    <a:pt x="852529" y="1661692"/>
                    <a:pt x="868886" y="1643407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563B6D97-ABBC-C845-9E02-8F45FB9B384D}"/>
              </a:ext>
            </a:extLst>
          </p:cNvPr>
          <p:cNvGrpSpPr/>
          <p:nvPr/>
        </p:nvGrpSpPr>
        <p:grpSpPr>
          <a:xfrm>
            <a:off x="378719" y="9390469"/>
            <a:ext cx="17566455" cy="779226"/>
            <a:chOff x="0" y="0"/>
            <a:chExt cx="23421940" cy="10389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6B08092-CD5A-FC8F-FB71-7EE998101F18}"/>
                </a:ext>
              </a:extLst>
            </p:cNvPr>
            <p:cNvSpPr/>
            <p:nvPr/>
          </p:nvSpPr>
          <p:spPr>
            <a:xfrm>
              <a:off x="0" y="172326"/>
              <a:ext cx="866641" cy="866641"/>
            </a:xfrm>
            <a:custGeom>
              <a:avLst/>
              <a:gdLst/>
              <a:ahLst/>
              <a:cxnLst/>
              <a:rect l="l" t="t" r="r" b="b"/>
              <a:pathLst>
                <a:path w="866641" h="866641">
                  <a:moveTo>
                    <a:pt x="0" y="0"/>
                  </a:moveTo>
                  <a:lnTo>
                    <a:pt x="866641" y="0"/>
                  </a:lnTo>
                  <a:lnTo>
                    <a:pt x="866641" y="866641"/>
                  </a:lnTo>
                  <a:lnTo>
                    <a:pt x="0" y="866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74A9679E-9420-8FD3-E7CA-6B6C8CCF93E1}"/>
                </a:ext>
              </a:extLst>
            </p:cNvPr>
            <p:cNvSpPr txBox="1"/>
            <p:nvPr/>
          </p:nvSpPr>
          <p:spPr>
            <a:xfrm>
              <a:off x="1138693" y="271565"/>
              <a:ext cx="3457165" cy="7674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61"/>
                </a:lnSpc>
              </a:pPr>
              <a:r>
                <a:rPr lang="en-US" sz="4339" spc="-134">
                  <a:gradFill>
                    <a:gsLst>
                      <a:gs pos="0">
                        <a:srgbClr val="86F8C5">
                          <a:alpha val="100000"/>
                        </a:srgbClr>
                      </a:gs>
                      <a:gs pos="100000">
                        <a:srgbClr val="2076E8">
                          <a:alpha val="100000"/>
                        </a:srgbClr>
                      </a:gs>
                    </a:gsLst>
                    <a:lin ang="5400000"/>
                  </a:gradFill>
                  <a:latin typeface="GoodTime Grotesk"/>
                  <a:ea typeface="GoodTime Grotesk"/>
                  <a:cs typeface="GoodTime Grotesk"/>
                  <a:sym typeface="GoodTime Grotesk"/>
                </a:rPr>
                <a:t>BCDAYES </a:t>
              </a:r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F17929D2-B901-D51C-36BE-822ED71CAB2D}"/>
                </a:ext>
              </a:extLst>
            </p:cNvPr>
            <p:cNvSpPr/>
            <p:nvPr/>
          </p:nvSpPr>
          <p:spPr>
            <a:xfrm>
              <a:off x="19137538" y="0"/>
              <a:ext cx="4284402" cy="1038967"/>
            </a:xfrm>
            <a:custGeom>
              <a:avLst/>
              <a:gdLst/>
              <a:ahLst/>
              <a:cxnLst/>
              <a:rect l="l" t="t" r="r" b="b"/>
              <a:pathLst>
                <a:path w="4284402" h="1038967">
                  <a:moveTo>
                    <a:pt x="0" y="0"/>
                  </a:moveTo>
                  <a:lnTo>
                    <a:pt x="4284402" y="0"/>
                  </a:lnTo>
                  <a:lnTo>
                    <a:pt x="4284402" y="1038967"/>
                  </a:lnTo>
                  <a:lnTo>
                    <a:pt x="0" y="1038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9" name="Picture 18" descr="SKILLS COLLECTION&#10;&#10;AI-generated content may be incorrect.">
            <a:extLst>
              <a:ext uri="{FF2B5EF4-FFF2-40B4-BE49-F238E27FC236}">
                <a16:creationId xmlns:a16="http://schemas.microsoft.com/office/drawing/2014/main" id="{791A8EA7-DA11-6995-6730-3B11C14408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9841" y="975629"/>
            <a:ext cx="7086600" cy="3141911"/>
          </a:xfrm>
          <a:prstGeom prst="rect">
            <a:avLst/>
          </a:prstGeom>
        </p:spPr>
      </p:pic>
      <p:pic>
        <p:nvPicPr>
          <p:cNvPr id="21" name="Picture 20" descr="The image depicts a stylized, three-dimensional crystal-like object with a blue color scheme, showcasing a geometric, shiny appearance.&#10;&#10;AI-generated content may be incorrect.">
            <a:extLst>
              <a:ext uri="{FF2B5EF4-FFF2-40B4-BE49-F238E27FC236}">
                <a16:creationId xmlns:a16="http://schemas.microsoft.com/office/drawing/2014/main" id="{8A4BE997-3AA2-99C7-8B93-F1FB21DBCA0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1793" y="1352485"/>
            <a:ext cx="2396304" cy="2396304"/>
          </a:xfrm>
          <a:prstGeom prst="rect">
            <a:avLst/>
          </a:prstGeom>
        </p:spPr>
      </p:pic>
      <p:pic>
        <p:nvPicPr>
          <p:cNvPr id="5" name="Picture 4" descr="The image depicts a stylized, three-dimensional crystal-like object with a blue color scheme, showcasing a geometric, shiny appearance.&#10;&#10;AI-generated content may be incorrect.">
            <a:extLst>
              <a:ext uri="{FF2B5EF4-FFF2-40B4-BE49-F238E27FC236}">
                <a16:creationId xmlns:a16="http://schemas.microsoft.com/office/drawing/2014/main" id="{8F4BBB68-5DD7-033B-4674-EA07A5AECFC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5668" y="1348432"/>
            <a:ext cx="2396304" cy="23963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589025F-BAF0-FB2F-6928-08D52D617E6F}"/>
              </a:ext>
            </a:extLst>
          </p:cNvPr>
          <p:cNvSpPr txBox="1"/>
          <p:nvPr/>
        </p:nvSpPr>
        <p:spPr>
          <a:xfrm>
            <a:off x="5300444" y="4153208"/>
            <a:ext cx="11049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b="1" dirty="0">
                <a:solidFill>
                  <a:schemeClr val="accent2">
                    <a:lumMod val="75000"/>
                  </a:schemeClr>
                </a:solidFill>
              </a:rPr>
              <a:t>This is not a vibe coding cult</a:t>
            </a:r>
            <a:r>
              <a:rPr lang="en-GB" sz="3200" b="1" dirty="0"/>
              <a:t>…</a:t>
            </a:r>
            <a:r>
              <a:rPr lang="en-GB" sz="3200" b="1" dirty="0">
                <a:solidFill>
                  <a:schemeClr val="accent5">
                    <a:lumMod val="75000"/>
                  </a:schemeClr>
                </a:solidFill>
              </a:rPr>
              <a:t>this is a framework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3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b="1" dirty="0">
                <a:solidFill>
                  <a:schemeClr val="accent2">
                    <a:lumMod val="75000"/>
                  </a:schemeClr>
                </a:solidFill>
              </a:rPr>
              <a:t>This is not a private library</a:t>
            </a:r>
            <a:r>
              <a:rPr lang="en-GB" sz="3200" b="1" dirty="0"/>
              <a:t>…</a:t>
            </a:r>
            <a:r>
              <a:rPr lang="en-GB" sz="3200" b="1" dirty="0">
                <a:solidFill>
                  <a:schemeClr val="accent5">
                    <a:lumMod val="75000"/>
                  </a:schemeClr>
                </a:solidFill>
              </a:rPr>
              <a:t>this is an Open-Source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3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b="1" dirty="0">
                <a:solidFill>
                  <a:schemeClr val="accent2">
                    <a:lumMod val="75000"/>
                  </a:schemeClr>
                </a:solidFill>
              </a:rPr>
              <a:t>This is not Fer’s next blog format</a:t>
            </a:r>
            <a:r>
              <a:rPr lang="en-GB" sz="3200" b="1" dirty="0"/>
              <a:t>…</a:t>
            </a:r>
            <a:r>
              <a:rPr lang="en-GB" sz="3200" b="1" dirty="0">
                <a:solidFill>
                  <a:schemeClr val="accent5">
                    <a:lumMod val="75000"/>
                  </a:schemeClr>
                </a:solidFill>
              </a:rPr>
              <a:t>It is community driven!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3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b="1" dirty="0">
                <a:solidFill>
                  <a:schemeClr val="accent2">
                    <a:lumMod val="75000"/>
                  </a:schemeClr>
                </a:solidFill>
              </a:rPr>
              <a:t>This is not hype</a:t>
            </a:r>
            <a:r>
              <a:rPr lang="en-GB" sz="3200" b="1" dirty="0"/>
              <a:t>…</a:t>
            </a:r>
            <a:r>
              <a:rPr lang="en-GB" sz="3200" b="1" dirty="0">
                <a:solidFill>
                  <a:schemeClr val="accent5">
                    <a:lumMod val="75000"/>
                  </a:schemeClr>
                </a:solidFill>
              </a:rPr>
              <a:t>this will save us time!</a:t>
            </a:r>
          </a:p>
        </p:txBody>
      </p:sp>
      <p:pic>
        <p:nvPicPr>
          <p:cNvPr id="12" name="Picture 11" descr="The image depicts a shiny, geometric, three-dimensional crystal-like structure, with overlapping hexagonal faces and a smooth, reflective surface.&#10;&#10;AI-generated content may be incorrect.">
            <a:extLst>
              <a:ext uri="{FF2B5EF4-FFF2-40B4-BE49-F238E27FC236}">
                <a16:creationId xmlns:a16="http://schemas.microsoft.com/office/drawing/2014/main" id="{01DDE3FC-41E8-02F7-CE9C-96BA3E1C04F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797" y="3039294"/>
            <a:ext cx="1981201" cy="1981201"/>
          </a:xfrm>
          <a:prstGeom prst="rect">
            <a:avLst/>
          </a:prstGeom>
        </p:spPr>
      </p:pic>
      <p:pic>
        <p:nvPicPr>
          <p:cNvPr id="14" name="Picture 13" descr="The image depicts a complex, geometric crystal-like structure with sharp, reflective surfaces and intersecting planes.&#10;&#10;AI-generated content may be incorrect.">
            <a:extLst>
              <a:ext uri="{FF2B5EF4-FFF2-40B4-BE49-F238E27FC236}">
                <a16:creationId xmlns:a16="http://schemas.microsoft.com/office/drawing/2014/main" id="{80497480-4184-FC26-3842-959ED101BB9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752" y="4152900"/>
            <a:ext cx="1981200" cy="1981200"/>
          </a:xfrm>
          <a:prstGeom prst="rect">
            <a:avLst/>
          </a:prstGeom>
        </p:spPr>
      </p:pic>
      <p:pic>
        <p:nvPicPr>
          <p:cNvPr id="16" name="Picture 15" descr="The image features a shiny, multi-faceted gold nugget with a geometric, diamond-like structure.&#10;&#10;AI-generated content may be incorrect.">
            <a:extLst>
              <a:ext uri="{FF2B5EF4-FFF2-40B4-BE49-F238E27FC236}">
                <a16:creationId xmlns:a16="http://schemas.microsoft.com/office/drawing/2014/main" id="{00D06E5C-6F6D-9EB8-827E-0E5982F24F2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500" y="5162779"/>
            <a:ext cx="1981200" cy="1981200"/>
          </a:xfrm>
          <a:prstGeom prst="rect">
            <a:avLst/>
          </a:prstGeom>
        </p:spPr>
      </p:pic>
      <p:pic>
        <p:nvPicPr>
          <p:cNvPr id="18" name="Picture 17" descr="The image shows a stunning, large, multi-faceted crystal structure with a shiny, glittery appearance, possibly resembling a diamond or quartz.&#10;&#10;AI-generated content may be incorrect.">
            <a:extLst>
              <a:ext uri="{FF2B5EF4-FFF2-40B4-BE49-F238E27FC236}">
                <a16:creationId xmlns:a16="http://schemas.microsoft.com/office/drawing/2014/main" id="{09D9293A-2CC8-E4C1-55E3-C28EEAFBA8F4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583" y="6121940"/>
            <a:ext cx="2012748" cy="2012748"/>
          </a:xfrm>
          <a:prstGeom prst="rect">
            <a:avLst/>
          </a:prstGeom>
        </p:spPr>
      </p:pic>
      <p:pic>
        <p:nvPicPr>
          <p:cNvPr id="22" name="Picture 21" descr="The image depicts a stylized, three-dimensional crystal-like object with a blue color scheme, showcasing a geometric, shiny appearance.&#10;&#10;AI-generated content may be incorrect.">
            <a:extLst>
              <a:ext uri="{FF2B5EF4-FFF2-40B4-BE49-F238E27FC236}">
                <a16:creationId xmlns:a16="http://schemas.microsoft.com/office/drawing/2014/main" id="{6BCDCC3E-BB54-1822-B705-2C552D230F7D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4952" y="7179088"/>
            <a:ext cx="2012748" cy="2012748"/>
          </a:xfrm>
          <a:prstGeom prst="rect">
            <a:avLst/>
          </a:prstGeom>
        </p:spPr>
      </p:pic>
      <p:pic>
        <p:nvPicPr>
          <p:cNvPr id="25" name="Picture 24" descr="We Need Heroes!&#10;&#10;AI-generated content may be incorrect.">
            <a:extLst>
              <a:ext uri="{FF2B5EF4-FFF2-40B4-BE49-F238E27FC236}">
                <a16:creationId xmlns:a16="http://schemas.microsoft.com/office/drawing/2014/main" id="{623BFEBB-C3BB-B6C5-E10D-9305D15C657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100" y="339454"/>
            <a:ext cx="4460000" cy="44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5575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A0B5F-EA53-DE92-393A-0C82DED63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F701E70-C550-B55C-D141-D7560ECAA9C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0" r="-39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B800FC0-9FB1-21B0-688D-734EDF5562EB}"/>
              </a:ext>
            </a:extLst>
          </p:cNvPr>
          <p:cNvGrpSpPr/>
          <p:nvPr/>
        </p:nvGrpSpPr>
        <p:grpSpPr>
          <a:xfrm>
            <a:off x="666750" y="666750"/>
            <a:ext cx="16954500" cy="8591550"/>
            <a:chOff x="0" y="0"/>
            <a:chExt cx="3299803" cy="167214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570DAA6-80B8-A7C5-7AEC-59D0419ECC0E}"/>
                </a:ext>
              </a:extLst>
            </p:cNvPr>
            <p:cNvSpPr/>
            <p:nvPr/>
          </p:nvSpPr>
          <p:spPr>
            <a:xfrm>
              <a:off x="0" y="0"/>
              <a:ext cx="3299803" cy="1672142"/>
            </a:xfrm>
            <a:custGeom>
              <a:avLst/>
              <a:gdLst/>
              <a:ahLst/>
              <a:cxnLst/>
              <a:rect l="l" t="t" r="r" b="b"/>
              <a:pathLst>
                <a:path w="3299803" h="1672142">
                  <a:moveTo>
                    <a:pt x="965120" y="1535832"/>
                  </a:moveTo>
                  <a:cubicBezTo>
                    <a:pt x="983327" y="1515479"/>
                    <a:pt x="1009342" y="1503846"/>
                    <a:pt x="1036650" y="1503846"/>
                  </a:cubicBezTo>
                  <a:lnTo>
                    <a:pt x="3213538" y="1504181"/>
                  </a:lnTo>
                  <a:cubicBezTo>
                    <a:pt x="3236413" y="1504193"/>
                    <a:pt x="3258355" y="1495115"/>
                    <a:pt x="3274534" y="1478945"/>
                  </a:cubicBezTo>
                  <a:cubicBezTo>
                    <a:pt x="3290713" y="1462775"/>
                    <a:pt x="3299803" y="1440838"/>
                    <a:pt x="3299803" y="1417963"/>
                  </a:cubicBezTo>
                  <a:lnTo>
                    <a:pt x="3299803" y="86219"/>
                  </a:lnTo>
                  <a:cubicBezTo>
                    <a:pt x="3299803" y="63352"/>
                    <a:pt x="3290719" y="41422"/>
                    <a:pt x="3274550" y="25253"/>
                  </a:cubicBezTo>
                  <a:cubicBezTo>
                    <a:pt x="3258381" y="9084"/>
                    <a:pt x="3236451" y="0"/>
                    <a:pt x="3213584" y="0"/>
                  </a:cubicBezTo>
                  <a:lnTo>
                    <a:pt x="303022" y="0"/>
                  </a:lnTo>
                  <a:cubicBezTo>
                    <a:pt x="278489" y="-1"/>
                    <a:pt x="255117" y="10450"/>
                    <a:pt x="238760" y="28735"/>
                  </a:cubicBezTo>
                  <a:lnTo>
                    <a:pt x="21960" y="271092"/>
                  </a:lnTo>
                  <a:cubicBezTo>
                    <a:pt x="7818" y="286900"/>
                    <a:pt x="0" y="307366"/>
                    <a:pt x="0" y="328576"/>
                  </a:cubicBezTo>
                  <a:lnTo>
                    <a:pt x="0" y="1585930"/>
                  </a:lnTo>
                  <a:cubicBezTo>
                    <a:pt x="4" y="1633544"/>
                    <a:pt x="38604" y="1672142"/>
                    <a:pt x="86219" y="1672142"/>
                  </a:cubicBezTo>
                  <a:lnTo>
                    <a:pt x="804624" y="1672142"/>
                  </a:lnTo>
                  <a:cubicBezTo>
                    <a:pt x="829157" y="1672143"/>
                    <a:pt x="852529" y="1661692"/>
                    <a:pt x="868886" y="1643407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4149CC98-856C-B6F5-500D-D424875E346E}"/>
              </a:ext>
            </a:extLst>
          </p:cNvPr>
          <p:cNvSpPr txBox="1"/>
          <p:nvPr/>
        </p:nvSpPr>
        <p:spPr>
          <a:xfrm>
            <a:off x="2133600" y="956356"/>
            <a:ext cx="15316200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999"/>
              </a:lnSpc>
            </a:pPr>
            <a:r>
              <a:rPr lang="en-US" sz="6000" spc="-384" dirty="0">
                <a:gradFill>
                  <a:gsLst>
                    <a:gs pos="0">
                      <a:srgbClr val="86F8C5">
                        <a:alpha val="100000"/>
                      </a:srgbClr>
                    </a:gs>
                    <a:gs pos="100000">
                      <a:srgbClr val="2076E8">
                        <a:alpha val="100000"/>
                      </a:srgbClr>
                    </a:gs>
                  </a:gsLst>
                  <a:lin ang="5400000"/>
                </a:gradFill>
                <a:latin typeface="GoodTime Grotesk"/>
                <a:ea typeface="GoodTime Grotesk"/>
                <a:cs typeface="GoodTime Grotesk"/>
                <a:sym typeface="GoodTime Grotesk"/>
              </a:rPr>
              <a:t>Showtime! Talk is cheap show me the skills!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51EEC59A-5A33-909C-2A70-082170E5610F}"/>
              </a:ext>
            </a:extLst>
          </p:cNvPr>
          <p:cNvGrpSpPr/>
          <p:nvPr/>
        </p:nvGrpSpPr>
        <p:grpSpPr>
          <a:xfrm>
            <a:off x="378719" y="9390469"/>
            <a:ext cx="17566455" cy="779226"/>
            <a:chOff x="0" y="0"/>
            <a:chExt cx="23421940" cy="10389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DE7010B-8DBE-3FAD-AEE2-D5C20BF4D2E3}"/>
                </a:ext>
              </a:extLst>
            </p:cNvPr>
            <p:cNvSpPr/>
            <p:nvPr/>
          </p:nvSpPr>
          <p:spPr>
            <a:xfrm>
              <a:off x="0" y="172326"/>
              <a:ext cx="866641" cy="866641"/>
            </a:xfrm>
            <a:custGeom>
              <a:avLst/>
              <a:gdLst/>
              <a:ahLst/>
              <a:cxnLst/>
              <a:rect l="l" t="t" r="r" b="b"/>
              <a:pathLst>
                <a:path w="866641" h="866641">
                  <a:moveTo>
                    <a:pt x="0" y="0"/>
                  </a:moveTo>
                  <a:lnTo>
                    <a:pt x="866641" y="0"/>
                  </a:lnTo>
                  <a:lnTo>
                    <a:pt x="866641" y="866641"/>
                  </a:lnTo>
                  <a:lnTo>
                    <a:pt x="0" y="866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BE482601-E83B-23F3-78C2-529EB2454F9E}"/>
                </a:ext>
              </a:extLst>
            </p:cNvPr>
            <p:cNvSpPr txBox="1"/>
            <p:nvPr/>
          </p:nvSpPr>
          <p:spPr>
            <a:xfrm>
              <a:off x="1138693" y="271565"/>
              <a:ext cx="3457165" cy="7674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61"/>
                </a:lnSpc>
              </a:pPr>
              <a:r>
                <a:rPr lang="en-US" sz="4339" spc="-134">
                  <a:gradFill>
                    <a:gsLst>
                      <a:gs pos="0">
                        <a:srgbClr val="86F8C5">
                          <a:alpha val="100000"/>
                        </a:srgbClr>
                      </a:gs>
                      <a:gs pos="100000">
                        <a:srgbClr val="2076E8">
                          <a:alpha val="100000"/>
                        </a:srgbClr>
                      </a:gs>
                    </a:gsLst>
                    <a:lin ang="5400000"/>
                  </a:gradFill>
                  <a:latin typeface="GoodTime Grotesk"/>
                  <a:ea typeface="GoodTime Grotesk"/>
                  <a:cs typeface="GoodTime Grotesk"/>
                  <a:sym typeface="GoodTime Grotesk"/>
                </a:rPr>
                <a:t>BCDAYES </a:t>
              </a:r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92B0B955-CC83-0A5E-7B8E-729B19F95953}"/>
                </a:ext>
              </a:extLst>
            </p:cNvPr>
            <p:cNvSpPr/>
            <p:nvPr/>
          </p:nvSpPr>
          <p:spPr>
            <a:xfrm>
              <a:off x="19137538" y="0"/>
              <a:ext cx="4284402" cy="1038967"/>
            </a:xfrm>
            <a:custGeom>
              <a:avLst/>
              <a:gdLst/>
              <a:ahLst/>
              <a:cxnLst/>
              <a:rect l="l" t="t" r="r" b="b"/>
              <a:pathLst>
                <a:path w="4284402" h="1038967">
                  <a:moveTo>
                    <a:pt x="0" y="0"/>
                  </a:moveTo>
                  <a:lnTo>
                    <a:pt x="4284402" y="0"/>
                  </a:lnTo>
                  <a:lnTo>
                    <a:pt x="4284402" y="1038967"/>
                  </a:lnTo>
                  <a:lnTo>
                    <a:pt x="0" y="1038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3" name="Picture 12" descr="The image shows an orange ginger cat standing on a wooden floor, curiously sniffing a white pillow with a black and white striped blanket nearby.&#10;&#10;AI-generated content may be incorrect.">
            <a:extLst>
              <a:ext uri="{FF2B5EF4-FFF2-40B4-BE49-F238E27FC236}">
                <a16:creationId xmlns:a16="http://schemas.microsoft.com/office/drawing/2014/main" id="{0E39826B-13F9-C45F-E037-948385459D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5252" y="2095500"/>
            <a:ext cx="4572000" cy="5867400"/>
          </a:xfrm>
          <a:prstGeom prst="rect">
            <a:avLst/>
          </a:prstGeom>
        </p:spPr>
      </p:pic>
      <p:pic>
        <p:nvPicPr>
          <p:cNvPr id="15" name="Picture 14" descr="The image depicts a stylized, three-dimensional crystal-like object with a blue color scheme, showcasing a geometric, shiny appearance.&#10;&#10;AI-generated content may be incorrect.">
            <a:extLst>
              <a:ext uri="{FF2B5EF4-FFF2-40B4-BE49-F238E27FC236}">
                <a16:creationId xmlns:a16="http://schemas.microsoft.com/office/drawing/2014/main" id="{194186F2-E035-58A0-BE53-5B3E3DB4997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36647" y="956356"/>
            <a:ext cx="2396304" cy="2396304"/>
          </a:xfrm>
          <a:prstGeom prst="rect">
            <a:avLst/>
          </a:prstGeom>
        </p:spPr>
      </p:pic>
      <p:pic>
        <p:nvPicPr>
          <p:cNvPr id="17" name="Picture 16" descr="The image depicts a QR code with a three-dimensional blue cube structure.&#10;&#10;AI-generated content may be incorrect.">
            <a:extLst>
              <a:ext uri="{FF2B5EF4-FFF2-40B4-BE49-F238E27FC236}">
                <a16:creationId xmlns:a16="http://schemas.microsoft.com/office/drawing/2014/main" id="{E436690C-8EF1-7BF7-4298-83A141FA8F2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00" y="1790700"/>
            <a:ext cx="6559884" cy="6559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408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55A4B-B729-1BFC-1C00-DC0154B1F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52926A3-7980-E5EE-E69B-3AE733C69A1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0" r="-39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AD9D43C-2BB1-90E2-0E00-89270D9E6380}"/>
              </a:ext>
            </a:extLst>
          </p:cNvPr>
          <p:cNvGrpSpPr/>
          <p:nvPr/>
        </p:nvGrpSpPr>
        <p:grpSpPr>
          <a:xfrm>
            <a:off x="666750" y="666750"/>
            <a:ext cx="16954500" cy="8591550"/>
            <a:chOff x="0" y="0"/>
            <a:chExt cx="3299803" cy="167214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08BED92-AB52-685E-E3A6-585E65AE327F}"/>
                </a:ext>
              </a:extLst>
            </p:cNvPr>
            <p:cNvSpPr/>
            <p:nvPr/>
          </p:nvSpPr>
          <p:spPr>
            <a:xfrm>
              <a:off x="0" y="0"/>
              <a:ext cx="3299803" cy="1672142"/>
            </a:xfrm>
            <a:custGeom>
              <a:avLst/>
              <a:gdLst/>
              <a:ahLst/>
              <a:cxnLst/>
              <a:rect l="l" t="t" r="r" b="b"/>
              <a:pathLst>
                <a:path w="3299803" h="1672142">
                  <a:moveTo>
                    <a:pt x="965120" y="1535832"/>
                  </a:moveTo>
                  <a:cubicBezTo>
                    <a:pt x="983327" y="1515479"/>
                    <a:pt x="1009342" y="1503846"/>
                    <a:pt x="1036650" y="1503846"/>
                  </a:cubicBezTo>
                  <a:lnTo>
                    <a:pt x="3213538" y="1504181"/>
                  </a:lnTo>
                  <a:cubicBezTo>
                    <a:pt x="3236413" y="1504193"/>
                    <a:pt x="3258355" y="1495115"/>
                    <a:pt x="3274534" y="1478945"/>
                  </a:cubicBezTo>
                  <a:cubicBezTo>
                    <a:pt x="3290713" y="1462775"/>
                    <a:pt x="3299803" y="1440838"/>
                    <a:pt x="3299803" y="1417963"/>
                  </a:cubicBezTo>
                  <a:lnTo>
                    <a:pt x="3299803" y="86219"/>
                  </a:lnTo>
                  <a:cubicBezTo>
                    <a:pt x="3299803" y="63352"/>
                    <a:pt x="3290719" y="41422"/>
                    <a:pt x="3274550" y="25253"/>
                  </a:cubicBezTo>
                  <a:cubicBezTo>
                    <a:pt x="3258381" y="9084"/>
                    <a:pt x="3236451" y="0"/>
                    <a:pt x="3213584" y="0"/>
                  </a:cubicBezTo>
                  <a:lnTo>
                    <a:pt x="303022" y="0"/>
                  </a:lnTo>
                  <a:cubicBezTo>
                    <a:pt x="278489" y="-1"/>
                    <a:pt x="255117" y="10450"/>
                    <a:pt x="238760" y="28735"/>
                  </a:cubicBezTo>
                  <a:lnTo>
                    <a:pt x="21960" y="271092"/>
                  </a:lnTo>
                  <a:cubicBezTo>
                    <a:pt x="7818" y="286900"/>
                    <a:pt x="0" y="307366"/>
                    <a:pt x="0" y="328576"/>
                  </a:cubicBezTo>
                  <a:lnTo>
                    <a:pt x="0" y="1585930"/>
                  </a:lnTo>
                  <a:cubicBezTo>
                    <a:pt x="4" y="1633544"/>
                    <a:pt x="38604" y="1672142"/>
                    <a:pt x="86219" y="1672142"/>
                  </a:cubicBezTo>
                  <a:lnTo>
                    <a:pt x="804624" y="1672142"/>
                  </a:lnTo>
                  <a:cubicBezTo>
                    <a:pt x="829157" y="1672143"/>
                    <a:pt x="852529" y="1661692"/>
                    <a:pt x="868886" y="1643407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F160DA6F-72F1-4309-5830-DB17373EF7D0}"/>
              </a:ext>
            </a:extLst>
          </p:cNvPr>
          <p:cNvSpPr txBox="1"/>
          <p:nvPr/>
        </p:nvSpPr>
        <p:spPr>
          <a:xfrm>
            <a:off x="2133600" y="956356"/>
            <a:ext cx="15316200" cy="10546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600"/>
              </a:lnSpc>
              <a:spcBef>
                <a:spcPct val="0"/>
              </a:spcBef>
            </a:pPr>
            <a:endParaRPr lang="en-US" sz="7200" spc="-165" dirty="0">
              <a:gradFill>
                <a:gsLst>
                  <a:gs pos="0">
                    <a:srgbClr val="86F8C5">
                      <a:alpha val="100000"/>
                    </a:srgbClr>
                  </a:gs>
                  <a:gs pos="100000">
                    <a:srgbClr val="2076E8">
                      <a:alpha val="100000"/>
                    </a:srgbClr>
                  </a:gs>
                </a:gsLst>
                <a:lin ang="5400000"/>
              </a:gradFill>
              <a:latin typeface="GoodTime Grotesk"/>
              <a:ea typeface="GoodTime Grotesk"/>
              <a:cs typeface="GoodTime Grotesk"/>
              <a:sym typeface="GoodTime Grotesk"/>
            </a:endParaRPr>
          </a:p>
          <a:p>
            <a:pPr lvl="0">
              <a:lnSpc>
                <a:spcPts val="3600"/>
              </a:lnSpc>
              <a:spcBef>
                <a:spcPct val="0"/>
              </a:spcBef>
            </a:pPr>
            <a:r>
              <a:rPr lang="en-US" sz="7200" spc="-165" dirty="0">
                <a:gradFill>
                  <a:gsLst>
                    <a:gs pos="0">
                      <a:srgbClr val="86F8C5">
                        <a:alpha val="100000"/>
                      </a:srgbClr>
                    </a:gs>
                    <a:gs pos="100000">
                      <a:srgbClr val="2076E8">
                        <a:alpha val="100000"/>
                      </a:srgbClr>
                    </a:gs>
                  </a:gsLst>
                  <a:lin ang="5400000"/>
                </a:gradFill>
                <a:latin typeface="GoodTime Grotesk"/>
                <a:ea typeface="GoodTime Grotesk"/>
                <a:cs typeface="GoodTime Grotesk"/>
                <a:sym typeface="GoodTime Grotesk"/>
              </a:rPr>
              <a:t>Takeaways 🍱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94D4E7DD-63A9-273B-4F5F-42433F06240C}"/>
              </a:ext>
            </a:extLst>
          </p:cNvPr>
          <p:cNvGrpSpPr/>
          <p:nvPr/>
        </p:nvGrpSpPr>
        <p:grpSpPr>
          <a:xfrm>
            <a:off x="378719" y="9390469"/>
            <a:ext cx="17566455" cy="779226"/>
            <a:chOff x="0" y="0"/>
            <a:chExt cx="23421940" cy="10389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69F18A5-1487-76A7-7515-3A8ECDDA3C27}"/>
                </a:ext>
              </a:extLst>
            </p:cNvPr>
            <p:cNvSpPr/>
            <p:nvPr/>
          </p:nvSpPr>
          <p:spPr>
            <a:xfrm>
              <a:off x="0" y="172326"/>
              <a:ext cx="866641" cy="866641"/>
            </a:xfrm>
            <a:custGeom>
              <a:avLst/>
              <a:gdLst/>
              <a:ahLst/>
              <a:cxnLst/>
              <a:rect l="l" t="t" r="r" b="b"/>
              <a:pathLst>
                <a:path w="866641" h="866641">
                  <a:moveTo>
                    <a:pt x="0" y="0"/>
                  </a:moveTo>
                  <a:lnTo>
                    <a:pt x="866641" y="0"/>
                  </a:lnTo>
                  <a:lnTo>
                    <a:pt x="866641" y="866641"/>
                  </a:lnTo>
                  <a:lnTo>
                    <a:pt x="0" y="866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8ED399C8-C63C-88C6-819F-9B3BBB26B1E9}"/>
                </a:ext>
              </a:extLst>
            </p:cNvPr>
            <p:cNvSpPr txBox="1"/>
            <p:nvPr/>
          </p:nvSpPr>
          <p:spPr>
            <a:xfrm>
              <a:off x="1138693" y="271565"/>
              <a:ext cx="3457165" cy="7674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61"/>
                </a:lnSpc>
              </a:pPr>
              <a:r>
                <a:rPr lang="en-US" sz="4339" spc="-134">
                  <a:gradFill>
                    <a:gsLst>
                      <a:gs pos="0">
                        <a:srgbClr val="86F8C5">
                          <a:alpha val="100000"/>
                        </a:srgbClr>
                      </a:gs>
                      <a:gs pos="100000">
                        <a:srgbClr val="2076E8">
                          <a:alpha val="100000"/>
                        </a:srgbClr>
                      </a:gs>
                    </a:gsLst>
                    <a:lin ang="5400000"/>
                  </a:gradFill>
                  <a:latin typeface="GoodTime Grotesk"/>
                  <a:ea typeface="GoodTime Grotesk"/>
                  <a:cs typeface="GoodTime Grotesk"/>
                  <a:sym typeface="GoodTime Grotesk"/>
                </a:rPr>
                <a:t>BCDAYES </a:t>
              </a:r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DCBE5709-D6A1-9940-1E28-1F3D9976B092}"/>
                </a:ext>
              </a:extLst>
            </p:cNvPr>
            <p:cNvSpPr/>
            <p:nvPr/>
          </p:nvSpPr>
          <p:spPr>
            <a:xfrm>
              <a:off x="19137538" y="0"/>
              <a:ext cx="4284402" cy="1038967"/>
            </a:xfrm>
            <a:custGeom>
              <a:avLst/>
              <a:gdLst/>
              <a:ahLst/>
              <a:cxnLst/>
              <a:rect l="l" t="t" r="r" b="b"/>
              <a:pathLst>
                <a:path w="4284402" h="1038967">
                  <a:moveTo>
                    <a:pt x="0" y="0"/>
                  </a:moveTo>
                  <a:lnTo>
                    <a:pt x="4284402" y="0"/>
                  </a:lnTo>
                  <a:lnTo>
                    <a:pt x="4284402" y="1038967"/>
                  </a:lnTo>
                  <a:lnTo>
                    <a:pt x="0" y="1038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5" name="Picture 14" descr="The image depicts a stylized, three-dimensional crystal-like object with a blue color scheme, showcasing a geometric, shiny appearance.&#10;&#10;AI-generated content may be incorrect.">
            <a:extLst>
              <a:ext uri="{FF2B5EF4-FFF2-40B4-BE49-F238E27FC236}">
                <a16:creationId xmlns:a16="http://schemas.microsoft.com/office/drawing/2014/main" id="{A5DA53F8-67A4-C046-867C-7D355C701D5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36647" y="956356"/>
            <a:ext cx="2396304" cy="2396304"/>
          </a:xfrm>
          <a:prstGeom prst="rect">
            <a:avLst/>
          </a:prstGeom>
        </p:spPr>
      </p:pic>
      <p:sp>
        <p:nvSpPr>
          <p:cNvPr id="10" name="TextBox 5">
            <a:extLst>
              <a:ext uri="{FF2B5EF4-FFF2-40B4-BE49-F238E27FC236}">
                <a16:creationId xmlns:a16="http://schemas.microsoft.com/office/drawing/2014/main" id="{9E2DA013-0100-080F-804E-4C61C69A1F3E}"/>
              </a:ext>
            </a:extLst>
          </p:cNvPr>
          <p:cNvSpPr txBox="1"/>
          <p:nvPr/>
        </p:nvSpPr>
        <p:spPr>
          <a:xfrm>
            <a:off x="2116751" y="2285051"/>
            <a:ext cx="15316200" cy="63591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spcBef>
                <a:spcPct val="0"/>
              </a:spcBef>
            </a:pPr>
            <a:r>
              <a:rPr lang="en-GB" sz="4400" spc="-165" dirty="0">
                <a:gradFill>
                  <a:gsLst>
                    <a:gs pos="0">
                      <a:srgbClr val="86F8C5">
                        <a:alpha val="100000"/>
                      </a:srgbClr>
                    </a:gs>
                    <a:gs pos="100000">
                      <a:srgbClr val="2076E8">
                        <a:alpha val="100000"/>
                      </a:srgbClr>
                    </a:gs>
                  </a:gsLst>
                  <a:lin ang="5400000"/>
                </a:gradFill>
                <a:latin typeface="GoodTime Grotesk"/>
                <a:ea typeface="GoodTime Grotesk"/>
                <a:cs typeface="GoodTime Grotesk"/>
                <a:sym typeface="GoodTime Grotesk"/>
              </a:rPr>
              <a:t>You already have the skills!</a:t>
            </a:r>
          </a:p>
          <a:p>
            <a:pPr lvl="0">
              <a:spcBef>
                <a:spcPct val="0"/>
              </a:spcBef>
            </a:pPr>
            <a:endParaRPr lang="en-GB" sz="4400" spc="-165" dirty="0">
              <a:gradFill>
                <a:gsLst>
                  <a:gs pos="0">
                    <a:srgbClr val="86F8C5">
                      <a:alpha val="100000"/>
                    </a:srgbClr>
                  </a:gs>
                  <a:gs pos="100000">
                    <a:srgbClr val="2076E8">
                      <a:alpha val="100000"/>
                    </a:srgbClr>
                  </a:gs>
                </a:gsLst>
                <a:lin ang="5400000"/>
              </a:gradFill>
              <a:latin typeface="GoodTime Grotesk"/>
              <a:ea typeface="GoodTime Grotesk"/>
              <a:cs typeface="GoodTime Grotesk"/>
              <a:sym typeface="GoodTime Grotesk"/>
            </a:endParaRPr>
          </a:p>
          <a:p>
            <a:pPr lvl="0">
              <a:spcBef>
                <a:spcPct val="0"/>
              </a:spcBef>
            </a:pPr>
            <a:r>
              <a:rPr lang="en-GB" sz="4400" spc="-165" dirty="0">
                <a:gradFill>
                  <a:gsLst>
                    <a:gs pos="0">
                      <a:srgbClr val="86F8C5">
                        <a:alpha val="100000"/>
                      </a:srgbClr>
                    </a:gs>
                    <a:gs pos="100000">
                      <a:srgbClr val="2076E8">
                        <a:alpha val="100000"/>
                      </a:srgbClr>
                    </a:gs>
                  </a:gsLst>
                  <a:lin ang="5400000"/>
                </a:gradFill>
                <a:latin typeface="GoodTime Grotesk"/>
                <a:ea typeface="GoodTime Grotesk"/>
                <a:cs typeface="GoodTime Grotesk"/>
                <a:sym typeface="GoodTime Grotesk"/>
              </a:rPr>
              <a:t>Share it with your workmates and that will help the company</a:t>
            </a:r>
          </a:p>
          <a:p>
            <a:pPr lvl="0">
              <a:spcBef>
                <a:spcPct val="0"/>
              </a:spcBef>
            </a:pPr>
            <a:endParaRPr lang="en-GB" sz="4400" spc="-165" dirty="0">
              <a:gradFill>
                <a:gsLst>
                  <a:gs pos="0">
                    <a:srgbClr val="86F8C5">
                      <a:alpha val="100000"/>
                    </a:srgbClr>
                  </a:gs>
                  <a:gs pos="100000">
                    <a:srgbClr val="2076E8">
                      <a:alpha val="100000"/>
                    </a:srgbClr>
                  </a:gs>
                </a:gsLst>
                <a:lin ang="5400000"/>
              </a:gradFill>
              <a:latin typeface="GoodTime Grotesk"/>
              <a:ea typeface="GoodTime Grotesk"/>
              <a:cs typeface="GoodTime Grotesk"/>
              <a:sym typeface="GoodTime Grotesk"/>
            </a:endParaRPr>
          </a:p>
          <a:p>
            <a:pPr lvl="0">
              <a:spcBef>
                <a:spcPct val="0"/>
              </a:spcBef>
            </a:pPr>
            <a:r>
              <a:rPr lang="en-GB" sz="4400" spc="-165" dirty="0">
                <a:gradFill>
                  <a:gsLst>
                    <a:gs pos="0">
                      <a:srgbClr val="86F8C5">
                        <a:alpha val="100000"/>
                      </a:srgbClr>
                    </a:gs>
                    <a:gs pos="100000">
                      <a:srgbClr val="2076E8">
                        <a:alpha val="100000"/>
                      </a:srgbClr>
                    </a:gs>
                  </a:gsLst>
                  <a:lin ang="5400000"/>
                </a:gradFill>
                <a:latin typeface="GoodTime Grotesk"/>
                <a:ea typeface="GoodTime Grotesk"/>
                <a:cs typeface="GoodTime Grotesk"/>
                <a:sym typeface="GoodTime Grotesk"/>
              </a:rPr>
              <a:t>Share it with the community and you will the hero that gave them time to focus on what matters the most!</a:t>
            </a:r>
          </a:p>
          <a:p>
            <a:pPr lvl="0">
              <a:spcBef>
                <a:spcPct val="0"/>
              </a:spcBef>
            </a:pPr>
            <a:endParaRPr lang="en-GB" sz="5000" spc="-165" dirty="0">
              <a:gradFill>
                <a:gsLst>
                  <a:gs pos="0">
                    <a:srgbClr val="86F8C5">
                      <a:alpha val="100000"/>
                    </a:srgbClr>
                  </a:gs>
                  <a:gs pos="100000">
                    <a:srgbClr val="2076E8">
                      <a:alpha val="100000"/>
                    </a:srgbClr>
                  </a:gs>
                </a:gsLst>
                <a:lin ang="5400000"/>
              </a:gradFill>
              <a:latin typeface="GoodTime Grotesk"/>
              <a:ea typeface="GoodTime Grotesk"/>
              <a:cs typeface="GoodTime Grotesk"/>
              <a:sym typeface="GoodTime Grotesk"/>
            </a:endParaRPr>
          </a:p>
          <a:p>
            <a:pPr lvl="0">
              <a:lnSpc>
                <a:spcPts val="3600"/>
              </a:lnSpc>
              <a:spcBef>
                <a:spcPct val="0"/>
              </a:spcBef>
            </a:pPr>
            <a:endParaRPr lang="en-GB" sz="7200" spc="-165" dirty="0">
              <a:gradFill>
                <a:gsLst>
                  <a:gs pos="0">
                    <a:srgbClr val="86F8C5">
                      <a:alpha val="100000"/>
                    </a:srgbClr>
                  </a:gs>
                  <a:gs pos="100000">
                    <a:srgbClr val="2076E8">
                      <a:alpha val="100000"/>
                    </a:srgbClr>
                  </a:gs>
                </a:gsLst>
                <a:lin ang="5400000"/>
              </a:gradFill>
              <a:latin typeface="GoodTime Grotesk"/>
              <a:ea typeface="GoodTime Grotesk"/>
              <a:cs typeface="GoodTime Grotesk"/>
              <a:sym typeface="GoodTime Grotesk"/>
            </a:endParaRPr>
          </a:p>
          <a:p>
            <a:pPr lvl="0">
              <a:lnSpc>
                <a:spcPts val="3600"/>
              </a:lnSpc>
              <a:spcBef>
                <a:spcPct val="0"/>
              </a:spcBef>
            </a:pPr>
            <a:r>
              <a:rPr lang="en-GB" sz="7200" spc="-165" dirty="0">
                <a:gradFill>
                  <a:gsLst>
                    <a:gs pos="0">
                      <a:srgbClr val="86F8C5">
                        <a:alpha val="100000"/>
                      </a:srgbClr>
                    </a:gs>
                    <a:gs pos="100000">
                      <a:srgbClr val="2076E8">
                        <a:alpha val="100000"/>
                      </a:srgbClr>
                    </a:gs>
                  </a:gsLst>
                  <a:lin ang="5400000"/>
                </a:gradFill>
                <a:latin typeface="GoodTime Grotesk"/>
                <a:ea typeface="GoodTime Grotesk"/>
                <a:cs typeface="GoodTime Grotesk"/>
                <a:sym typeface="GoodTime Grotesk"/>
              </a:rPr>
              <a:t> </a:t>
            </a:r>
          </a:p>
          <a:p>
            <a:pPr lvl="0">
              <a:lnSpc>
                <a:spcPts val="3600"/>
              </a:lnSpc>
              <a:spcBef>
                <a:spcPct val="0"/>
              </a:spcBef>
            </a:pPr>
            <a:endParaRPr lang="en-US" sz="7200" spc="-165" dirty="0">
              <a:gradFill>
                <a:gsLst>
                  <a:gs pos="0">
                    <a:srgbClr val="86F8C5">
                      <a:alpha val="100000"/>
                    </a:srgbClr>
                  </a:gs>
                  <a:gs pos="100000">
                    <a:srgbClr val="2076E8">
                      <a:alpha val="100000"/>
                    </a:srgbClr>
                  </a:gs>
                </a:gsLst>
                <a:lin ang="5400000"/>
              </a:gradFill>
              <a:latin typeface="GoodTime Grotesk"/>
              <a:ea typeface="GoodTime Grotesk"/>
              <a:cs typeface="GoodTime Grotesk"/>
              <a:sym typeface="GoodTime Grotesk"/>
            </a:endParaRPr>
          </a:p>
        </p:txBody>
      </p:sp>
      <p:pic>
        <p:nvPicPr>
          <p:cNvPr id="13" name="Picture 12" descr="A ginger cat is comfortably lying on a desk, facing a computer screen with a user interface visible.&#10;&#10;AI-generated content may be incorrect.">
            <a:extLst>
              <a:ext uri="{FF2B5EF4-FFF2-40B4-BE49-F238E27FC236}">
                <a16:creationId xmlns:a16="http://schemas.microsoft.com/office/drawing/2014/main" id="{68465FA6-CEBC-417D-6A08-2E9D4C418CA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6438669"/>
            <a:ext cx="6669121" cy="375138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5068851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0" r="-39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378719" y="9390469"/>
            <a:ext cx="17566455" cy="779226"/>
            <a:chOff x="0" y="0"/>
            <a:chExt cx="23421940" cy="1038967"/>
          </a:xfrm>
        </p:grpSpPr>
        <p:sp>
          <p:nvSpPr>
            <p:cNvPr id="4" name="Freeform 4"/>
            <p:cNvSpPr/>
            <p:nvPr/>
          </p:nvSpPr>
          <p:spPr>
            <a:xfrm>
              <a:off x="0" y="172326"/>
              <a:ext cx="866641" cy="866641"/>
            </a:xfrm>
            <a:custGeom>
              <a:avLst/>
              <a:gdLst/>
              <a:ahLst/>
              <a:cxnLst/>
              <a:rect l="l" t="t" r="r" b="b"/>
              <a:pathLst>
                <a:path w="866641" h="866641">
                  <a:moveTo>
                    <a:pt x="0" y="0"/>
                  </a:moveTo>
                  <a:lnTo>
                    <a:pt x="866641" y="0"/>
                  </a:lnTo>
                  <a:lnTo>
                    <a:pt x="866641" y="866641"/>
                  </a:lnTo>
                  <a:lnTo>
                    <a:pt x="0" y="866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8693" y="271565"/>
              <a:ext cx="3457165" cy="7674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61"/>
                </a:lnSpc>
              </a:pPr>
              <a:r>
                <a:rPr lang="en-US" sz="4339" spc="-134">
                  <a:gradFill>
                    <a:gsLst>
                      <a:gs pos="0">
                        <a:srgbClr val="86F8C5">
                          <a:alpha val="100000"/>
                        </a:srgbClr>
                      </a:gs>
                      <a:gs pos="100000">
                        <a:srgbClr val="2076E8">
                          <a:alpha val="100000"/>
                        </a:srgbClr>
                      </a:gs>
                    </a:gsLst>
                    <a:lin ang="5400000"/>
                  </a:gradFill>
                  <a:latin typeface="GoodTime Grotesk"/>
                  <a:ea typeface="GoodTime Grotesk"/>
                  <a:cs typeface="GoodTime Grotesk"/>
                  <a:sym typeface="GoodTime Grotesk"/>
                </a:rPr>
                <a:t>BCDAYES </a:t>
              </a:r>
            </a:p>
          </p:txBody>
        </p:sp>
        <p:sp>
          <p:nvSpPr>
            <p:cNvPr id="6" name="Freeform 6"/>
            <p:cNvSpPr/>
            <p:nvPr/>
          </p:nvSpPr>
          <p:spPr>
            <a:xfrm>
              <a:off x="19137538" y="0"/>
              <a:ext cx="4284402" cy="1038967"/>
            </a:xfrm>
            <a:custGeom>
              <a:avLst/>
              <a:gdLst/>
              <a:ahLst/>
              <a:cxnLst/>
              <a:rect l="l" t="t" r="r" b="b"/>
              <a:pathLst>
                <a:path w="4284402" h="1038967">
                  <a:moveTo>
                    <a:pt x="0" y="0"/>
                  </a:moveTo>
                  <a:lnTo>
                    <a:pt x="4284402" y="0"/>
                  </a:lnTo>
                  <a:lnTo>
                    <a:pt x="4284402" y="1038967"/>
                  </a:lnTo>
                  <a:lnTo>
                    <a:pt x="0" y="1038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5">
            <a:extLst>
              <a:ext uri="{FF2B5EF4-FFF2-40B4-BE49-F238E27FC236}">
                <a16:creationId xmlns:a16="http://schemas.microsoft.com/office/drawing/2014/main" id="{03DF9F1C-0635-9B88-C8FA-A8021EF8D15B}"/>
              </a:ext>
            </a:extLst>
          </p:cNvPr>
          <p:cNvSpPr txBox="1"/>
          <p:nvPr/>
        </p:nvSpPr>
        <p:spPr>
          <a:xfrm>
            <a:off x="4956564" y="8494534"/>
            <a:ext cx="6606659" cy="13493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999"/>
              </a:lnSpc>
            </a:pPr>
            <a:r>
              <a:rPr lang="en-US" sz="9999" spc="-549" dirty="0">
                <a:gradFill>
                  <a:gsLst>
                    <a:gs pos="0">
                      <a:srgbClr val="86F8C5">
                        <a:alpha val="100000"/>
                      </a:srgbClr>
                    </a:gs>
                    <a:gs pos="100000">
                      <a:srgbClr val="2076E8">
                        <a:alpha val="100000"/>
                      </a:srgbClr>
                    </a:gs>
                  </a:gsLst>
                  <a:lin ang="5400000"/>
                </a:gradFill>
                <a:latin typeface="GoodTime Grotesk"/>
                <a:ea typeface="GoodTime Grotesk"/>
                <a:cs typeface="GoodTime Grotesk"/>
                <a:sym typeface="GoodTime Grotesk"/>
              </a:rPr>
              <a:t>GRACIAS</a:t>
            </a:r>
          </a:p>
        </p:txBody>
      </p:sp>
      <p:pic>
        <p:nvPicPr>
          <p:cNvPr id="8" name="Picture 7" descr="The image depicts a QR code with a three-dimensional blue cube structure.&#10;&#10;AI-generated content may be incorrect.">
            <a:extLst>
              <a:ext uri="{FF2B5EF4-FFF2-40B4-BE49-F238E27FC236}">
                <a16:creationId xmlns:a16="http://schemas.microsoft.com/office/drawing/2014/main" id="{35704797-45A2-8143-C04A-84BB28211E8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9002" y="800100"/>
            <a:ext cx="6559884" cy="655988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D99DD-F74D-C3F4-D398-12FBD427A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F01B80A-E76C-6A97-CBFD-D5EA7808818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0" r="-39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FF2B9FB-34F0-6D8F-33FF-5B8D0D98EFF8}"/>
              </a:ext>
            </a:extLst>
          </p:cNvPr>
          <p:cNvGrpSpPr/>
          <p:nvPr/>
        </p:nvGrpSpPr>
        <p:grpSpPr>
          <a:xfrm>
            <a:off x="378719" y="9390469"/>
            <a:ext cx="17566455" cy="779226"/>
            <a:chOff x="0" y="0"/>
            <a:chExt cx="23421940" cy="103896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5ADC36E-D13B-2C19-663A-BA71A965409F}"/>
                </a:ext>
              </a:extLst>
            </p:cNvPr>
            <p:cNvSpPr/>
            <p:nvPr/>
          </p:nvSpPr>
          <p:spPr>
            <a:xfrm>
              <a:off x="0" y="172326"/>
              <a:ext cx="866641" cy="866641"/>
            </a:xfrm>
            <a:custGeom>
              <a:avLst/>
              <a:gdLst/>
              <a:ahLst/>
              <a:cxnLst/>
              <a:rect l="l" t="t" r="r" b="b"/>
              <a:pathLst>
                <a:path w="866641" h="866641">
                  <a:moveTo>
                    <a:pt x="0" y="0"/>
                  </a:moveTo>
                  <a:lnTo>
                    <a:pt x="866641" y="0"/>
                  </a:lnTo>
                  <a:lnTo>
                    <a:pt x="866641" y="866641"/>
                  </a:lnTo>
                  <a:lnTo>
                    <a:pt x="0" y="866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0B90E09-C8AE-D20C-600C-EFD973DAD64B}"/>
                </a:ext>
              </a:extLst>
            </p:cNvPr>
            <p:cNvSpPr txBox="1"/>
            <p:nvPr/>
          </p:nvSpPr>
          <p:spPr>
            <a:xfrm>
              <a:off x="1138693" y="271565"/>
              <a:ext cx="3457165" cy="7674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61"/>
                </a:lnSpc>
              </a:pPr>
              <a:r>
                <a:rPr lang="en-US" sz="4339" spc="-134">
                  <a:gradFill>
                    <a:gsLst>
                      <a:gs pos="0">
                        <a:srgbClr val="86F8C5">
                          <a:alpha val="100000"/>
                        </a:srgbClr>
                      </a:gs>
                      <a:gs pos="100000">
                        <a:srgbClr val="2076E8">
                          <a:alpha val="100000"/>
                        </a:srgbClr>
                      </a:gs>
                    </a:gsLst>
                    <a:lin ang="5400000"/>
                  </a:gradFill>
                  <a:latin typeface="GoodTime Grotesk"/>
                  <a:ea typeface="GoodTime Grotesk"/>
                  <a:cs typeface="GoodTime Grotesk"/>
                  <a:sym typeface="GoodTime Grotesk"/>
                </a:rPr>
                <a:t>BCDAYES </a:t>
              </a: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B1EEF00-2DE6-58E0-06C6-F2514230BC32}"/>
                </a:ext>
              </a:extLst>
            </p:cNvPr>
            <p:cNvSpPr/>
            <p:nvPr/>
          </p:nvSpPr>
          <p:spPr>
            <a:xfrm>
              <a:off x="19137538" y="0"/>
              <a:ext cx="4284402" cy="1038967"/>
            </a:xfrm>
            <a:custGeom>
              <a:avLst/>
              <a:gdLst/>
              <a:ahLst/>
              <a:cxnLst/>
              <a:rect l="l" t="t" r="r" b="b"/>
              <a:pathLst>
                <a:path w="4284402" h="1038967">
                  <a:moveTo>
                    <a:pt x="0" y="0"/>
                  </a:moveTo>
                  <a:lnTo>
                    <a:pt x="4284402" y="0"/>
                  </a:lnTo>
                  <a:lnTo>
                    <a:pt x="4284402" y="1038967"/>
                  </a:lnTo>
                  <a:lnTo>
                    <a:pt x="0" y="1038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5">
            <a:extLst>
              <a:ext uri="{FF2B5EF4-FFF2-40B4-BE49-F238E27FC236}">
                <a16:creationId xmlns:a16="http://schemas.microsoft.com/office/drawing/2014/main" id="{5D960BE3-E34B-95E1-6BCB-DC5620018B4B}"/>
              </a:ext>
            </a:extLst>
          </p:cNvPr>
          <p:cNvSpPr txBox="1"/>
          <p:nvPr/>
        </p:nvSpPr>
        <p:spPr>
          <a:xfrm>
            <a:off x="4936963" y="7602645"/>
            <a:ext cx="6606659" cy="2601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999"/>
              </a:lnSpc>
            </a:pPr>
            <a:r>
              <a:rPr lang="en-US" sz="9999" spc="-549" dirty="0">
                <a:gradFill>
                  <a:gsLst>
                    <a:gs pos="0">
                      <a:srgbClr val="86F8C5">
                        <a:alpha val="100000"/>
                      </a:srgbClr>
                    </a:gs>
                    <a:gs pos="100000">
                      <a:srgbClr val="2076E8">
                        <a:alpha val="100000"/>
                      </a:srgbClr>
                    </a:gs>
                  </a:gsLst>
                  <a:lin ang="5400000"/>
                </a:gradFill>
                <a:latin typeface="GoodTime Grotesk"/>
                <a:ea typeface="GoodTime Grotesk"/>
                <a:cs typeface="GoodTime Grotesk"/>
                <a:sym typeface="GoodTime Grotesk"/>
              </a:rPr>
              <a:t>Rate this session</a:t>
            </a:r>
          </a:p>
        </p:txBody>
      </p:sp>
      <p:pic>
        <p:nvPicPr>
          <p:cNvPr id="8" name="Picture 7" descr="The image depicts a QR code with a three-dimensional blue cube structure.&#10;&#10;AI-generated content may be incorrect.">
            <a:extLst>
              <a:ext uri="{FF2B5EF4-FFF2-40B4-BE49-F238E27FC236}">
                <a16:creationId xmlns:a16="http://schemas.microsoft.com/office/drawing/2014/main" id="{62D39B32-D2A1-F5AF-C896-1DB8754503D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9002" y="800100"/>
            <a:ext cx="6559884" cy="6559884"/>
          </a:xfrm>
          <a:prstGeom prst="rect">
            <a:avLst/>
          </a:prstGeom>
        </p:spPr>
      </p:pic>
      <p:pic>
        <p:nvPicPr>
          <p:cNvPr id="10" name="Picture 9" descr="Agentes al Rescate: Extendiendo la Integracion Business&#10;&#10;AI-generated content may be incorrect.">
            <a:extLst>
              <a:ext uri="{FF2B5EF4-FFF2-40B4-BE49-F238E27FC236}">
                <a16:creationId xmlns:a16="http://schemas.microsoft.com/office/drawing/2014/main" id="{E593A2CB-C0E5-8285-E231-ABDF334A96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9002" y="804081"/>
            <a:ext cx="6559884" cy="6754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408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2217</TotalTime>
  <Words>279</Words>
  <Application>Microsoft Office PowerPoint</Application>
  <PresentationFormat>Custom</PresentationFormat>
  <Paragraphs>75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Aptos</vt:lpstr>
      <vt:lpstr>open sans</vt:lpstr>
      <vt:lpstr>GoodTime Grotesk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- Evento Tecnológico</dc:title>
  <dc:description>Presentación - Evento Tecnológico</dc:description>
  <cp:lastModifiedBy>Fernando Artigas Alfonso</cp:lastModifiedBy>
  <cp:revision>247</cp:revision>
  <dcterms:created xsi:type="dcterms:W3CDTF">2006-08-16T00:00:00Z</dcterms:created>
  <dcterms:modified xsi:type="dcterms:W3CDTF">2026-04-15T08:13:16Z</dcterms:modified>
  <dc:identifier>DAHE7zUvL2Y</dc:identifier>
</cp:coreProperties>
</file>